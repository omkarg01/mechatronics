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6" r:id="rId1"/>
  </p:sldMasterIdLst>
  <p:notesMasterIdLst>
    <p:notesMasterId r:id="rId11"/>
  </p:notesMasterIdLst>
  <p:handoutMasterIdLst>
    <p:handoutMasterId r:id="rId12"/>
  </p:handoutMasterIdLst>
  <p:sldIdLst>
    <p:sldId id="702" r:id="rId2"/>
    <p:sldId id="734" r:id="rId3"/>
    <p:sldId id="740" r:id="rId4"/>
    <p:sldId id="739" r:id="rId5"/>
    <p:sldId id="731" r:id="rId6"/>
    <p:sldId id="733" r:id="rId7"/>
    <p:sldId id="735" r:id="rId8"/>
    <p:sldId id="737" r:id="rId9"/>
    <p:sldId id="736" r:id="rId10"/>
  </p:sldIdLst>
  <p:sldSz cx="9906000" cy="6858000" type="A4"/>
  <p:notesSz cx="9928225" cy="67976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 baseline="300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 baseline="300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 baseline="300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 baseline="300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 baseline="300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kern="1200" baseline="300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kern="1200" baseline="300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kern="1200" baseline="300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kern="1200" baseline="300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1" userDrawn="1">
          <p15:clr>
            <a:srgbClr val="A4A3A4"/>
          </p15:clr>
        </p15:guide>
        <p15:guide id="2" pos="312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FFFF"/>
    <a:srgbClr val="000000"/>
    <a:srgbClr val="3333FF"/>
    <a:srgbClr val="66FF33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65" autoAdjust="0"/>
    <p:restoredTop sz="94581" autoAdjust="0"/>
  </p:normalViewPr>
  <p:slideViewPr>
    <p:cSldViewPr snapToGrid="0">
      <p:cViewPr varScale="1">
        <p:scale>
          <a:sx n="82" d="100"/>
          <a:sy n="82" d="100"/>
        </p:scale>
        <p:origin x="1368" y="7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notesViewPr>
    <p:cSldViewPr snapToGrid="0">
      <p:cViewPr varScale="1">
        <p:scale>
          <a:sx n="39" d="100"/>
          <a:sy n="39" d="100"/>
        </p:scale>
        <p:origin x="-1416" y="-82"/>
      </p:cViewPr>
      <p:guideLst>
        <p:guide orient="horz" pos="2141"/>
        <p:guide pos="312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4300281" cy="340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641" tIns="44822" rIns="89641" bIns="44822" numCol="1" anchor="t" anchorCtr="0" compatLnSpc="1">
            <a:prstTxWarp prst="textNoShape">
              <a:avLst/>
            </a:prstTxWarp>
          </a:bodyPr>
          <a:lstStyle>
            <a:lvl1pPr>
              <a:defRPr sz="1100" baseline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7946" y="1"/>
            <a:ext cx="4300280" cy="340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641" tIns="44822" rIns="89641" bIns="44822" numCol="1" anchor="t" anchorCtr="0" compatLnSpc="1">
            <a:prstTxWarp prst="textNoShape">
              <a:avLst/>
            </a:prstTxWarp>
          </a:bodyPr>
          <a:lstStyle>
            <a:lvl1pPr algn="r">
              <a:defRPr sz="1100" baseline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6457328"/>
            <a:ext cx="4300281" cy="3403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641" tIns="44822" rIns="89641" bIns="44822" numCol="1" anchor="b" anchorCtr="0" compatLnSpc="1">
            <a:prstTxWarp prst="textNoShape">
              <a:avLst/>
            </a:prstTxWarp>
          </a:bodyPr>
          <a:lstStyle>
            <a:lvl1pPr>
              <a:defRPr sz="1100" baseline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7946" y="6457328"/>
            <a:ext cx="4300280" cy="3403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641" tIns="44822" rIns="89641" bIns="44822" numCol="1" anchor="b" anchorCtr="0" compatLnSpc="1">
            <a:prstTxWarp prst="textNoShape">
              <a:avLst/>
            </a:prstTxWarp>
          </a:bodyPr>
          <a:lstStyle>
            <a:lvl1pPr algn="r">
              <a:defRPr sz="1100" baseline="0"/>
            </a:lvl1pPr>
          </a:lstStyle>
          <a:p>
            <a:pPr>
              <a:defRPr/>
            </a:pPr>
            <a:fld id="{BE335682-4CA4-44DF-A337-E7A5CD4FA16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6337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4300281" cy="340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641" tIns="44822" rIns="89641" bIns="44822" numCol="1" anchor="t" anchorCtr="0" compatLnSpc="1">
            <a:prstTxWarp prst="textNoShape">
              <a:avLst/>
            </a:prstTxWarp>
          </a:bodyPr>
          <a:lstStyle>
            <a:lvl1pPr>
              <a:defRPr sz="1100" baseline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7946" y="1"/>
            <a:ext cx="4300280" cy="340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641" tIns="44822" rIns="89641" bIns="44822" numCol="1" anchor="t" anchorCtr="0" compatLnSpc="1">
            <a:prstTxWarp prst="textNoShape">
              <a:avLst/>
            </a:prstTxWarp>
          </a:bodyPr>
          <a:lstStyle>
            <a:lvl1pPr algn="r">
              <a:defRPr sz="1100" baseline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127375" y="511175"/>
            <a:ext cx="3678238" cy="254635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23165" y="3230407"/>
            <a:ext cx="7281900" cy="305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641" tIns="44822" rIns="89641" bIns="4482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6457328"/>
            <a:ext cx="4300281" cy="3403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641" tIns="44822" rIns="89641" bIns="44822" numCol="1" anchor="b" anchorCtr="0" compatLnSpc="1">
            <a:prstTxWarp prst="textNoShape">
              <a:avLst/>
            </a:prstTxWarp>
          </a:bodyPr>
          <a:lstStyle>
            <a:lvl1pPr>
              <a:defRPr sz="1100" baseline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7946" y="6457328"/>
            <a:ext cx="4300280" cy="3403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641" tIns="44822" rIns="89641" bIns="44822" numCol="1" anchor="b" anchorCtr="0" compatLnSpc="1">
            <a:prstTxWarp prst="textNoShape">
              <a:avLst/>
            </a:prstTxWarp>
          </a:bodyPr>
          <a:lstStyle>
            <a:lvl1pPr algn="r">
              <a:defRPr sz="1100" baseline="0"/>
            </a:lvl1pPr>
          </a:lstStyle>
          <a:p>
            <a:pPr>
              <a:defRPr/>
            </a:pPr>
            <a:fld id="{CB30024D-4627-405D-A7F3-D6C165B1EC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33621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30024D-4627-405D-A7F3-D6C165B1ECBA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702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/>
          <a:lstStyle/>
          <a:p>
            <a:r>
              <a:rPr lang="en-IN" dirty="0"/>
              <a:t>Students:  </a:t>
            </a:r>
          </a:p>
          <a:p>
            <a:r>
              <a:rPr lang="en-IN" dirty="0"/>
              <a:t>Guide:</a:t>
            </a:r>
          </a:p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/>
          <a:lstStyle/>
          <a:p>
            <a:r>
              <a:rPr lang="en-IN" dirty="0"/>
              <a:t>DEPARTMENT  OF  MECHANICAL  ENGINEERING</a:t>
            </a:r>
          </a:p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/>
          <a:lstStyle/>
          <a:p>
            <a:fld id="{73A77C17-EA0C-43C5-A652-2E086C9A1109}" type="slidenum">
              <a:rPr lang="en-US" sz="1000" smtClean="0">
                <a:solidFill>
                  <a:srgbClr val="000000"/>
                </a:solidFill>
              </a:rPr>
              <a:pPr/>
              <a:t>‹#›</a:t>
            </a:fld>
            <a:r>
              <a:rPr lang="en-US" sz="1000" dirty="0">
                <a:solidFill>
                  <a:srgbClr val="000000"/>
                </a:solidFill>
              </a:rPr>
              <a:t> of  10</a:t>
            </a:r>
          </a:p>
          <a:p>
            <a:fld id="{09F959BE-1531-4FF1-B258-6746580D107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7647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4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1000" y="1371600"/>
            <a:ext cx="9144000" cy="4549793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580213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4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1000" y="1371600"/>
            <a:ext cx="9144000" cy="4549793"/>
          </a:xfrm>
        </p:spPr>
        <p:txBody>
          <a:bodyPr/>
          <a:lstStyle>
            <a:lvl5pPr>
              <a:defRPr sz="10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7011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4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1000" y="1371600"/>
            <a:ext cx="9144000" cy="4549793"/>
          </a:xfrm>
        </p:spPr>
        <p:txBody>
          <a:bodyPr/>
          <a:lstStyle>
            <a:lvl5pPr>
              <a:defRPr sz="10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611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0700" y="31293"/>
            <a:ext cx="7454900" cy="12641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029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Title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1381" y="31293"/>
            <a:ext cx="1792081" cy="731251"/>
          </a:xfrm>
          <a:prstGeom prst="rect">
            <a:avLst/>
          </a:prstGeom>
        </p:spPr>
      </p:pic>
      <p:sp>
        <p:nvSpPr>
          <p:cNvPr id="9" name="Rectangle 10"/>
          <p:cNvSpPr>
            <a:spLocks noChangeArrowheads="1"/>
          </p:cNvSpPr>
          <p:nvPr userDrawn="1"/>
        </p:nvSpPr>
        <p:spPr bwMode="auto">
          <a:xfrm>
            <a:off x="0" y="6035149"/>
            <a:ext cx="9906000" cy="50270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endParaRPr lang="en-US" sz="1000" kern="1200" baseline="30000" dirty="0">
              <a:solidFill>
                <a:srgbClr val="000000"/>
              </a:solidFill>
              <a:latin typeface="Times New Roman" pitchFamily="18" charset="0"/>
              <a:ea typeface="+mn-ea"/>
              <a:cs typeface="+mn-cs"/>
            </a:endParaRPr>
          </a:p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	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DEPARTMENT  OF  MECHATRONICS  ENGINEERING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				</a:t>
            </a:r>
            <a:fld id="{73A77C17-EA0C-43C5-A652-2E086C9A1109}" type="slidenum">
              <a:rPr lang="en-US" sz="1600" baseline="30000" smtClean="0">
                <a:solidFill>
                  <a:schemeClr val="tx1"/>
                </a:solidFill>
              </a:rPr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1600" baseline="30000" dirty="0">
                <a:solidFill>
                  <a:schemeClr val="tx1"/>
                </a:solidFill>
              </a:rPr>
              <a:t> of  10</a:t>
            </a:r>
          </a:p>
          <a:p>
            <a:pPr algn="ctr">
              <a:defRPr/>
            </a:pPr>
            <a:endParaRPr kumimoji="0" lang="en-US" sz="1200" b="0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4261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68" r:id="rId2"/>
    <p:sldLayoutId id="2147483669" r:id="rId3"/>
    <p:sldLayoutId id="2147483670" r:id="rId4"/>
  </p:sldLayoutIdLst>
  <p:hf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b="1" kern="1200">
          <a:solidFill>
            <a:srgbClr val="FF0000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b="1" i="1" kern="1200">
          <a:solidFill>
            <a:schemeClr val="accent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i="1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Automatic Solar Tracking System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379436" y="1446877"/>
            <a:ext cx="9051925" cy="472024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120000"/>
              <a:buChar char="•"/>
              <a:defRPr sz="1800" b="1" i="1">
                <a:solidFill>
                  <a:srgbClr val="3333FF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1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400" b="1" i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200" b="0" i="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ctr" eaLnBrk="1" hangingPunct="1">
              <a:buFontTx/>
              <a:buNone/>
            </a:pPr>
            <a:endParaRPr lang="en-US" kern="0" baseline="0" dirty="0"/>
          </a:p>
          <a:p>
            <a:pPr algn="ctr" eaLnBrk="1" hangingPunct="1">
              <a:buFontTx/>
              <a:buNone/>
            </a:pPr>
            <a:endParaRPr lang="en-US" kern="0" baseline="0" dirty="0"/>
          </a:p>
          <a:p>
            <a:pPr algn="ctr" eaLnBrk="1" hangingPunct="1">
              <a:buFontTx/>
              <a:buNone/>
            </a:pPr>
            <a:r>
              <a:rPr lang="en-US" kern="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by</a:t>
            </a:r>
          </a:p>
          <a:p>
            <a:pPr algn="ctr" eaLnBrk="1" hangingPunct="1">
              <a:buFontTx/>
              <a:buNone/>
            </a:pPr>
            <a:r>
              <a:rPr lang="en-US" kern="0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OMKAR GUJJA ( 71 ) </a:t>
            </a:r>
          </a:p>
          <a:p>
            <a:pPr algn="ctr" eaLnBrk="1" hangingPunct="1">
              <a:buFontTx/>
              <a:buNone/>
            </a:pPr>
            <a:r>
              <a:rPr lang="en-US" kern="0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SHASHIKANT SADHAPHULE ()</a:t>
            </a:r>
          </a:p>
          <a:p>
            <a:pPr algn="ctr" eaLnBrk="1" hangingPunct="1">
              <a:buFontTx/>
              <a:buNone/>
            </a:pPr>
            <a:r>
              <a:rPr lang="en-US" kern="0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ADVAIT BHOSLE ()</a:t>
            </a:r>
          </a:p>
          <a:p>
            <a:pPr algn="ctr" eaLnBrk="1" hangingPunct="1">
              <a:buFontTx/>
              <a:buNone/>
            </a:pPr>
            <a:endParaRPr lang="en-US" kern="0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FontTx/>
              <a:buNone/>
            </a:pPr>
            <a:r>
              <a:rPr lang="en-US" kern="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</a:p>
          <a:p>
            <a:pPr marL="0" indent="0" algn="ctr" eaLnBrk="1" hangingPunct="1">
              <a:buNone/>
            </a:pPr>
            <a:r>
              <a:rPr lang="en-US" kern="0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Prof.  </a:t>
            </a:r>
            <a:r>
              <a:rPr lang="en-US" kern="0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Raghuvendra</a:t>
            </a:r>
            <a:r>
              <a:rPr lang="en-US" kern="0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S. Upadhyay</a:t>
            </a:r>
            <a:endParaRPr lang="en-US" kern="0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eaLnBrk="1" hangingPunct="1">
              <a:buNone/>
            </a:pPr>
            <a:endParaRPr lang="en-US" kern="0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FontTx/>
              <a:buNone/>
            </a:pPr>
            <a:r>
              <a:rPr lang="en-US" kern="0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Mechatronics Engineering</a:t>
            </a:r>
          </a:p>
          <a:p>
            <a:pPr algn="ctr" eaLnBrk="1" hangingPunct="1">
              <a:buFontTx/>
              <a:buNone/>
            </a:pPr>
            <a:r>
              <a:rPr lang="en-US" kern="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TERNA  ENGINEERING  COLLEGE  NERUL</a:t>
            </a:r>
          </a:p>
          <a:p>
            <a:pPr algn="ctr" eaLnBrk="1" hangingPunct="1">
              <a:buFontTx/>
              <a:buNone/>
            </a:pPr>
            <a:r>
              <a:rPr lang="en-US" kern="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Mumbai</a:t>
            </a:r>
          </a:p>
        </p:txBody>
      </p:sp>
    </p:spTree>
    <p:extLst>
      <p:ext uri="{BB962C8B-B14F-4D97-AF65-F5344CB8AC3E}">
        <p14:creationId xmlns:p14="http://schemas.microsoft.com/office/powerpoint/2010/main" val="2953794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>
                <a:solidFill>
                  <a:schemeClr val="tx1"/>
                </a:solidFill>
              </a:rPr>
              <a:t>What is Solar Energy?</a:t>
            </a:r>
          </a:p>
          <a:p>
            <a:endParaRPr lang="en-US" b="0" dirty="0">
              <a:solidFill>
                <a:schemeClr val="tx1"/>
              </a:solidFill>
            </a:endParaRPr>
          </a:p>
          <a:p>
            <a:r>
              <a:rPr lang="en-US" b="0" dirty="0">
                <a:solidFill>
                  <a:schemeClr val="tx1"/>
                </a:solidFill>
                <a:effectLst/>
              </a:rPr>
              <a:t>Solar energy is </a:t>
            </a:r>
            <a:r>
              <a:rPr lang="en-US" b="0" dirty="0">
                <a:solidFill>
                  <a:srgbClr val="FF0000"/>
                </a:solidFill>
                <a:effectLst/>
              </a:rPr>
              <a:t>radiant light and heat from the Sun </a:t>
            </a:r>
            <a:r>
              <a:rPr lang="en-US" b="0" dirty="0">
                <a:solidFill>
                  <a:schemeClr val="tx1"/>
                </a:solidFill>
                <a:effectLst/>
              </a:rPr>
              <a:t>that is harnessed using a range of ever-evolving technologies such as </a:t>
            </a:r>
            <a:r>
              <a:rPr lang="en-US" b="0" dirty="0">
                <a:solidFill>
                  <a:srgbClr val="FF0000"/>
                </a:solidFill>
                <a:effectLst/>
              </a:rPr>
              <a:t>solar heating, photovoltaics cells.</a:t>
            </a:r>
          </a:p>
          <a:p>
            <a:endParaRPr lang="en-US" b="0" dirty="0">
              <a:solidFill>
                <a:schemeClr val="tx1"/>
              </a:solidFill>
            </a:endParaRPr>
          </a:p>
          <a:p>
            <a:r>
              <a:rPr lang="en-US" b="0" dirty="0">
                <a:solidFill>
                  <a:srgbClr val="FF0000"/>
                </a:solidFill>
              </a:rPr>
              <a:t>World Energy Conservation </a:t>
            </a:r>
            <a:r>
              <a:rPr lang="en-US" b="0" dirty="0">
                <a:solidFill>
                  <a:schemeClr val="tx1"/>
                </a:solidFill>
              </a:rPr>
              <a:t>predicted estimation about the rate of utilization of energy resources shows that the </a:t>
            </a:r>
            <a:r>
              <a:rPr lang="en-US" b="0" dirty="0">
                <a:solidFill>
                  <a:srgbClr val="FFC000"/>
                </a:solidFill>
              </a:rPr>
              <a:t>coal deposits will deplete within the next 200 to 300</a:t>
            </a:r>
            <a:r>
              <a:rPr lang="en-US" b="0" dirty="0">
                <a:solidFill>
                  <a:schemeClr val="tx1"/>
                </a:solidFill>
              </a:rPr>
              <a:t> years and </a:t>
            </a:r>
            <a:r>
              <a:rPr lang="en-US" b="0" dirty="0">
                <a:solidFill>
                  <a:srgbClr val="FFC000"/>
                </a:solidFill>
              </a:rPr>
              <a:t>petroleum deposits , deplete in next few decades.</a:t>
            </a:r>
            <a:endParaRPr lang="en-IN" b="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9503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pic>
        <p:nvPicPr>
          <p:cNvPr id="5" name="Content Placeholder 4" descr="Chart, pie chart&#10;&#10;Description automatically generated">
            <a:extLst>
              <a:ext uri="{FF2B5EF4-FFF2-40B4-BE49-F238E27FC236}">
                <a16:creationId xmlns:a16="http://schemas.microsoft.com/office/drawing/2014/main" id="{E8857D70-2F30-4965-808B-A58CD75E55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0301" y="1638617"/>
            <a:ext cx="7454899" cy="4015740"/>
          </a:xfrm>
        </p:spPr>
      </p:pic>
    </p:spTree>
    <p:extLst>
      <p:ext uri="{BB962C8B-B14F-4D97-AF65-F5344CB8AC3E}">
        <p14:creationId xmlns:p14="http://schemas.microsoft.com/office/powerpoint/2010/main" val="2714767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solidFill>
                  <a:schemeClr val="tx1"/>
                </a:solidFill>
              </a:rPr>
              <a:t>Need For A Sun Tracking System </a:t>
            </a:r>
          </a:p>
          <a:p>
            <a:endParaRPr lang="en-US" b="0" dirty="0">
              <a:solidFill>
                <a:schemeClr val="tx1"/>
              </a:solidFill>
            </a:endParaRPr>
          </a:p>
          <a:p>
            <a:r>
              <a:rPr lang="en-US" b="0" dirty="0">
                <a:solidFill>
                  <a:schemeClr val="tx1"/>
                </a:solidFill>
              </a:rPr>
              <a:t>From dawn to dusk the sun keeps changing the angle from 0-90 rising and 90-180 declining. </a:t>
            </a:r>
          </a:p>
          <a:p>
            <a:pPr marL="0" indent="0">
              <a:buNone/>
            </a:pPr>
            <a:r>
              <a:rPr lang="en-US" b="0" dirty="0">
                <a:solidFill>
                  <a:schemeClr val="tx1"/>
                </a:solidFill>
              </a:rPr>
              <a:t> </a:t>
            </a:r>
          </a:p>
          <a:p>
            <a:endParaRPr lang="en-IN" b="0" dirty="0">
              <a:solidFill>
                <a:schemeClr val="tx1"/>
              </a:solidFill>
            </a:endParaRPr>
          </a:p>
        </p:txBody>
      </p:sp>
      <p:pic>
        <p:nvPicPr>
          <p:cNvPr id="7" name="Picture 6" descr="Graphical user interface, application, Teams&#10;&#10;Description automatically generated">
            <a:extLst>
              <a:ext uri="{FF2B5EF4-FFF2-40B4-BE49-F238E27FC236}">
                <a16:creationId xmlns:a16="http://schemas.microsoft.com/office/drawing/2014/main" id="{BB2A4D7A-0FD9-4AC9-B8AF-AF7BC3BEA5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874" y="3088433"/>
            <a:ext cx="5196277" cy="2978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486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Objective &amp; Scope of Project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0" dirty="0">
                <a:solidFill>
                  <a:schemeClr val="tx1"/>
                </a:solidFill>
              </a:rPr>
              <a:t>The aim of the project is to keep the solar photovoltaic </a:t>
            </a:r>
            <a:r>
              <a:rPr lang="en-US" sz="2400" b="0" dirty="0">
                <a:solidFill>
                  <a:srgbClr val="00B0F0"/>
                </a:solidFill>
              </a:rPr>
              <a:t>panel perpendicular to the sun throughout the year</a:t>
            </a:r>
            <a:r>
              <a:rPr lang="en-US" sz="2400" b="0" dirty="0">
                <a:solidFill>
                  <a:schemeClr val="tx1"/>
                </a:solidFill>
              </a:rPr>
              <a:t> in order to make it more efficient.</a:t>
            </a:r>
          </a:p>
          <a:p>
            <a:r>
              <a:rPr lang="en-US" sz="2400" b="0" dirty="0">
                <a:solidFill>
                  <a:schemeClr val="tx1"/>
                </a:solidFill>
              </a:rPr>
              <a:t>Conditions For Maximum Output.</a:t>
            </a:r>
          </a:p>
          <a:p>
            <a:r>
              <a:rPr lang="en-US" sz="2400" b="0" dirty="0">
                <a:solidFill>
                  <a:schemeClr val="tx1"/>
                </a:solidFill>
              </a:rPr>
              <a:t> The difference between the </a:t>
            </a:r>
            <a:r>
              <a:rPr lang="en-US" sz="2400" b="0" dirty="0">
                <a:solidFill>
                  <a:srgbClr val="FF0000"/>
                </a:solidFill>
              </a:rPr>
              <a:t>incident ray</a:t>
            </a:r>
            <a:r>
              <a:rPr lang="en-US" sz="2400" b="0" dirty="0">
                <a:solidFill>
                  <a:schemeClr val="tx1"/>
                </a:solidFill>
              </a:rPr>
              <a:t> and the </a:t>
            </a:r>
            <a:r>
              <a:rPr lang="en-US" sz="2400" b="0" dirty="0">
                <a:solidFill>
                  <a:srgbClr val="FF0000"/>
                </a:solidFill>
              </a:rPr>
              <a:t>reflected ray </a:t>
            </a:r>
            <a:r>
              <a:rPr lang="en-US" sz="2400" b="0" dirty="0">
                <a:solidFill>
                  <a:schemeClr val="tx1"/>
                </a:solidFill>
              </a:rPr>
              <a:t>should be equal. to zero, i.e. the rays should be perpendicular to the panel. </a:t>
            </a:r>
          </a:p>
          <a:p>
            <a:endParaRPr lang="en-IN" sz="2400" b="0" dirty="0">
              <a:solidFill>
                <a:schemeClr val="tx1"/>
              </a:solidFill>
            </a:endParaRP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174A6887-58AB-4FF7-8A69-39D0C8491D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1125" y="3303036"/>
            <a:ext cx="7143750" cy="2855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972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0699" y="31293"/>
            <a:ext cx="7953801" cy="1264108"/>
          </a:xfrm>
        </p:spPr>
        <p:txBody>
          <a:bodyPr/>
          <a:lstStyle/>
          <a:p>
            <a:r>
              <a:rPr lang="en-GB" dirty="0"/>
              <a:t>Project Implementation/Methodology</a:t>
            </a:r>
            <a:endParaRPr lang="en-I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2A34093-5619-4F99-97CD-C46106FF1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5142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Future Scope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9408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0699" y="31293"/>
            <a:ext cx="8115301" cy="1264108"/>
          </a:xfrm>
        </p:spPr>
        <p:txBody>
          <a:bodyPr/>
          <a:lstStyle/>
          <a:p>
            <a:r>
              <a:rPr lang="en-GB" dirty="0"/>
              <a:t>(Gantt chart)Schedule of project work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F3591E8-9673-4C05-B926-5F826FFFF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9153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3032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2000" b="0" dirty="0">
              <a:solidFill>
                <a:schemeClr val="tx1"/>
              </a:solidFill>
              <a:effectLst/>
              <a:ea typeface="Calibri" panose="020F0502020204030204" pitchFamily="34" charset="0"/>
            </a:endParaRPr>
          </a:p>
          <a:p>
            <a:endParaRPr lang="en-US" sz="2000" b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3069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31870</TotalTime>
  <Words>219</Words>
  <Application>Microsoft Office PowerPoint</Application>
  <PresentationFormat>A4 Paper (210x297 mm)</PresentationFormat>
  <Paragraphs>36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Office Theme</vt:lpstr>
      <vt:lpstr>Automatic Solar Tracking System</vt:lpstr>
      <vt:lpstr>Introduction</vt:lpstr>
      <vt:lpstr>Introduction</vt:lpstr>
      <vt:lpstr>Problem Definition</vt:lpstr>
      <vt:lpstr>Objective &amp; Scope of Project</vt:lpstr>
      <vt:lpstr>Project Implementation/Methodology</vt:lpstr>
      <vt:lpstr>Future Scope</vt:lpstr>
      <vt:lpstr>(Gantt chart)Schedule of project work</vt:lpstr>
      <vt:lpstr>References</vt:lpstr>
    </vt:vector>
  </TitlesOfParts>
  <Company>iitb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CoFG_SCwAIHS</dc:title>
  <dc:subject>Comparison of Fin Geometries in Solar Collector with Absorber Integrated Heat Storage</dc:subject>
  <dc:creator>Prof M V Rane, PhD_SJS, DDP_AP</dc:creator>
  <cp:keywords>IC_Solar-iCon 2016+Conference Presentation</cp:keywords>
  <cp:lastModifiedBy>SSPO .</cp:lastModifiedBy>
  <cp:revision>1751</cp:revision>
  <cp:lastPrinted>2016-01-26T15:41:14Z</cp:lastPrinted>
  <dcterms:created xsi:type="dcterms:W3CDTF">2001-12-15T12:25:16Z</dcterms:created>
  <dcterms:modified xsi:type="dcterms:W3CDTF">2021-03-12T17:19:37Z</dcterms:modified>
  <cp:version>28</cp:version>
</cp:coreProperties>
</file>