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6" r:id="rId1"/>
  </p:sldMasterIdLst>
  <p:notesMasterIdLst>
    <p:notesMasterId r:id="rId14"/>
  </p:notesMasterIdLst>
  <p:handoutMasterIdLst>
    <p:handoutMasterId r:id="rId15"/>
  </p:handoutMasterIdLst>
  <p:sldIdLst>
    <p:sldId id="702" r:id="rId2"/>
    <p:sldId id="734" r:id="rId3"/>
    <p:sldId id="730" r:id="rId4"/>
    <p:sldId id="738" r:id="rId5"/>
    <p:sldId id="740" r:id="rId6"/>
    <p:sldId id="742" r:id="rId7"/>
    <p:sldId id="741" r:id="rId8"/>
    <p:sldId id="733" r:id="rId9"/>
    <p:sldId id="732" r:id="rId10"/>
    <p:sldId id="735" r:id="rId11"/>
    <p:sldId id="737" r:id="rId12"/>
    <p:sldId id="736" r:id="rId13"/>
  </p:sldIdLst>
  <p:sldSz cx="9906000" cy="6858000" type="A4"/>
  <p:notesSz cx="9928225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A1A1"/>
    <a:srgbClr val="C7C7C7"/>
    <a:srgbClr val="858585"/>
    <a:srgbClr val="8B8B8B"/>
    <a:srgbClr val="FFFFFF"/>
    <a:srgbClr val="FF0000"/>
    <a:srgbClr val="000000"/>
    <a:srgbClr val="3333FF"/>
    <a:srgbClr val="66FF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5" autoAdjust="0"/>
    <p:restoredTop sz="94581" autoAdjust="0"/>
  </p:normalViewPr>
  <p:slideViewPr>
    <p:cSldViewPr snapToGrid="0">
      <p:cViewPr varScale="1">
        <p:scale>
          <a:sx n="82" d="100"/>
          <a:sy n="82" d="100"/>
        </p:scale>
        <p:origin x="1368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>
      <p:cViewPr varScale="1">
        <p:scale>
          <a:sx n="39" d="100"/>
          <a:sy n="39" d="100"/>
        </p:scale>
        <p:origin x="-1416" y="-82"/>
      </p:cViewPr>
      <p:guideLst>
        <p:guide orient="horz" pos="2141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300281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7946" y="1"/>
            <a:ext cx="4300280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7328"/>
            <a:ext cx="4300281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7946" y="6457328"/>
            <a:ext cx="4300280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fld id="{BE335682-4CA4-44DF-A337-E7A5CD4FA1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633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300281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7946" y="1"/>
            <a:ext cx="4300280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7375" y="511175"/>
            <a:ext cx="3678238" cy="25463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165" y="3230407"/>
            <a:ext cx="7281900" cy="305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7328"/>
            <a:ext cx="4300281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7946" y="6457328"/>
            <a:ext cx="4300280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fld id="{CB30024D-4627-405D-A7F3-D6C165B1EC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3621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30024D-4627-405D-A7F3-D6C165B1ECB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02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30024D-4627-405D-A7F3-D6C165B1ECB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348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30024D-4627-405D-A7F3-D6C165B1ECB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209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30024D-4627-405D-A7F3-D6C165B1ECB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142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30024D-4627-405D-A7F3-D6C165B1ECB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483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Students:  </a:t>
            </a:r>
          </a:p>
          <a:p>
            <a:r>
              <a:rPr lang="en-IN" dirty="0"/>
              <a:t>Guide:</a:t>
            </a: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DEPARTMENT  OF  MECHANICAL  ENGINEERING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73A77C17-EA0C-43C5-A652-2E086C9A1109}" type="slidenum">
              <a:rPr lang="en-US" sz="1000" smtClean="0">
                <a:solidFill>
                  <a:srgbClr val="000000"/>
                </a:solidFill>
              </a:rPr>
              <a:pPr/>
              <a:t>‹#›</a:t>
            </a:fld>
            <a:r>
              <a:rPr lang="en-US" sz="1000" dirty="0">
                <a:solidFill>
                  <a:srgbClr val="000000"/>
                </a:solidFill>
              </a:rPr>
              <a:t> of  10</a:t>
            </a:r>
          </a:p>
          <a:p>
            <a:fld id="{09F959BE-1531-4FF1-B258-6746580D107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64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8021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5pPr>
              <a:defRPr sz="1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0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5pPr>
              <a:defRPr sz="1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1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0700" y="31293"/>
            <a:ext cx="7454900" cy="1264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029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Title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381" y="31293"/>
            <a:ext cx="1792081" cy="731251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0" y="6035149"/>
            <a:ext cx="9906000" cy="50270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en-US" sz="1000" kern="1200" baseline="300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	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DEPARTMENT  OF  MECHATRONICS  ENGINEERING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				</a:t>
            </a:r>
            <a:fld id="{73A77C17-EA0C-43C5-A652-2E086C9A1109}" type="slidenum">
              <a:rPr lang="en-US" sz="1600" baseline="30000" smtClean="0">
                <a:solidFill>
                  <a:schemeClr val="tx1"/>
                </a:solidFill>
              </a:rPr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600" baseline="30000" dirty="0">
                <a:solidFill>
                  <a:schemeClr val="tx1"/>
                </a:solidFill>
              </a:rPr>
              <a:t> of  10</a:t>
            </a:r>
          </a:p>
          <a:p>
            <a:pPr algn="ctr">
              <a:defRPr/>
            </a:pPr>
            <a:endParaRPr kumimoji="0" lang="en-US" sz="12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2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8" r:id="rId2"/>
    <p:sldLayoutId id="2147483669" r:id="rId3"/>
    <p:sldLayoutId id="2147483670" r:id="rId4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b="1" kern="1200">
          <a:solidFill>
            <a:srgbClr val="FF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b="1" i="1" kern="1200">
          <a:solidFill>
            <a:schemeClr val="accent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i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f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cience.sciencemag.org/content/320/5876/63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pnl.gov/main/publications/external/technical_reports/pnnl-19259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664" y="348534"/>
            <a:ext cx="7454900" cy="1264108"/>
          </a:xfrm>
        </p:spPr>
        <p:txBody>
          <a:bodyPr/>
          <a:lstStyle/>
          <a:p>
            <a:r>
              <a:rPr lang="en-US" dirty="0"/>
              <a:t>Portable Mini Refrigerator </a:t>
            </a:r>
            <a:endParaRPr lang="en-IN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79436" y="1446877"/>
            <a:ext cx="9051925" cy="472024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120000"/>
              <a:buChar char="•"/>
              <a:defRPr sz="1800" b="1" i="1">
                <a:solidFill>
                  <a:srgbClr val="3333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b="1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200" b="0" i="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Tx/>
              <a:buNone/>
            </a:pPr>
            <a:endParaRPr lang="en-US" kern="0" baseline="0" dirty="0"/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</a:p>
          <a:p>
            <a:pPr algn="ctr" eaLnBrk="1" hangingPunct="1">
              <a:buFontTx/>
              <a:buNone/>
            </a:pPr>
            <a:endParaRPr lang="en-US" kern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OMKAR GUJJA ( 71 ) 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SHASHIKANT SADHAPHULE (62)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ADVAIT BHOSLE (72) </a:t>
            </a:r>
          </a:p>
          <a:p>
            <a:pPr algn="ctr" eaLnBrk="1" hangingPunct="1">
              <a:buFontTx/>
              <a:buNone/>
            </a:pPr>
            <a:endParaRPr lang="en-US" kern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 algn="ctr" eaLnBrk="1" hangingPunct="1"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 Raghuvendra S. Upadhyay</a:t>
            </a:r>
          </a:p>
          <a:p>
            <a:pPr marL="0" indent="0" algn="ctr" eaLnBrk="1" hangingPunct="1">
              <a:buNone/>
            </a:pPr>
            <a:endParaRPr lang="en-US" kern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Mechatronics Engineering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  ENGINEERING  COLLEGE  NERUL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Mumbai</a:t>
            </a:r>
          </a:p>
        </p:txBody>
      </p:sp>
    </p:spTree>
    <p:extLst>
      <p:ext uri="{BB962C8B-B14F-4D97-AF65-F5344CB8AC3E}">
        <p14:creationId xmlns:p14="http://schemas.microsoft.com/office/powerpoint/2010/main" val="295379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chemeClr val="tx1"/>
                </a:solidFill>
              </a:rPr>
              <a:t>Building refrigerator based on thermoelectric cooling.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Making use of Peltier modules devices for cooling.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Making a portable model.</a:t>
            </a: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IN" sz="2000" b="0" i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2DBBF-00D5-410B-8061-AD1A353168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0"/>
          <a:stretch/>
        </p:blipFill>
        <p:spPr>
          <a:xfrm>
            <a:off x="2071397" y="2743200"/>
            <a:ext cx="5439746" cy="342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03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7844619" cy="1264108"/>
          </a:xfrm>
        </p:spPr>
        <p:txBody>
          <a:bodyPr/>
          <a:lstStyle/>
          <a:p>
            <a:r>
              <a:rPr lang="en-IN" dirty="0"/>
              <a:t>             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389" y="1203649"/>
            <a:ext cx="9209221" cy="4982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0" dirty="0">
                <a:solidFill>
                  <a:schemeClr val="tx1"/>
                </a:solidFill>
              </a:rPr>
              <a:t>What is Peltier effect ?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202124"/>
                </a:solidFill>
                <a:effectLst/>
              </a:rPr>
              <a:t>The effect creates a temperature difference by transferring heat between two electrical           junctions. When the current flows through the junctions of the two conductors, heat       is removed at one junction and cooling occurs.</a:t>
            </a:r>
          </a:p>
          <a:p>
            <a:pPr marL="0" indent="0">
              <a:buNone/>
            </a:pPr>
            <a:endParaRPr lang="en-IN" sz="2000" b="0" i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000" b="0" i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11187E-7E35-4082-9073-AA223F86F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094" y="3097763"/>
            <a:ext cx="3265714" cy="197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689A8-A7E8-4535-AE89-CB1317A3D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21094"/>
            <a:ext cx="9144000" cy="5243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chemeClr val="tx1"/>
                </a:solidFill>
              </a:rPr>
              <a:t>   </a:t>
            </a:r>
            <a:r>
              <a:rPr lang="en-US" sz="2800" i="0" dirty="0">
                <a:solidFill>
                  <a:schemeClr val="tx1"/>
                </a:solidFill>
              </a:rPr>
              <a:t>Working</a:t>
            </a:r>
            <a:r>
              <a:rPr lang="en-US" sz="2000" i="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Electrons move freely in copper conductor but not so freely in semi conductor.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As the electrons leave the copper and enter hot side of p-type they must fill a hole in order to move through the p-type. When electrons fill a hole they drop down to a lower energy level and release heat in the process.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Then as electrons move from the p type to copper conductor on the cold side the electrons are bumped back to higher energy levels and absorb heat in the process.</a:t>
            </a: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IN" sz="2000" b="0" i="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8E2E2D-77C3-450D-AA7B-F7FE3EF98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995" y="3533302"/>
            <a:ext cx="4517528" cy="23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44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6AF449E8-B5D2-4ACB-9AFA-89203E1A7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143000"/>
            <a:ext cx="6096000" cy="4572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F054888-BD2F-4805-9935-A5D993D2C860}"/>
              </a:ext>
            </a:extLst>
          </p:cNvPr>
          <p:cNvSpPr/>
          <p:nvPr/>
        </p:nvSpPr>
        <p:spPr>
          <a:xfrm>
            <a:off x="2612571" y="2472613"/>
            <a:ext cx="914400" cy="1772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87AF45-9798-419E-B3D1-93AA82988D9C}"/>
              </a:ext>
            </a:extLst>
          </p:cNvPr>
          <p:cNvSpPr/>
          <p:nvPr/>
        </p:nvSpPr>
        <p:spPr>
          <a:xfrm>
            <a:off x="5921831" y="2472613"/>
            <a:ext cx="914400" cy="1772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45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F432-E2B7-497C-8D5F-985C84B7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Diagram</a:t>
            </a:r>
          </a:p>
        </p:txBody>
      </p:sp>
      <p:pic>
        <p:nvPicPr>
          <p:cNvPr id="5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59B8DB74-611D-4C41-BD7B-C3D2C2AD7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445" y="1455576"/>
            <a:ext cx="5971963" cy="4113760"/>
          </a:xfrm>
        </p:spPr>
      </p:pic>
    </p:spTree>
    <p:extLst>
      <p:ext uri="{BB962C8B-B14F-4D97-AF65-F5344CB8AC3E}">
        <p14:creationId xmlns:p14="http://schemas.microsoft.com/office/powerpoint/2010/main" val="422542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7953801" cy="1264108"/>
          </a:xfrm>
        </p:spPr>
        <p:txBody>
          <a:bodyPr/>
          <a:lstStyle/>
          <a:p>
            <a:r>
              <a:rPr lang="en-IN" dirty="0"/>
              <a:t>Exploded View</a:t>
            </a:r>
          </a:p>
        </p:txBody>
      </p:sp>
      <p:pic>
        <p:nvPicPr>
          <p:cNvPr id="4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5A9314C0-BFF4-40F4-82A4-8F05C1C78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636" y="1707502"/>
            <a:ext cx="7073912" cy="3778898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48BAAF-1B9F-4956-BAB5-6AE3F9619212}"/>
              </a:ext>
            </a:extLst>
          </p:cNvPr>
          <p:cNvSpPr/>
          <p:nvPr/>
        </p:nvSpPr>
        <p:spPr>
          <a:xfrm>
            <a:off x="6354148" y="3289041"/>
            <a:ext cx="1931436" cy="1506894"/>
          </a:xfrm>
          <a:prstGeom prst="rect">
            <a:avLst/>
          </a:prstGeom>
          <a:solidFill>
            <a:srgbClr val="A1A1A1"/>
          </a:solidFill>
          <a:ln>
            <a:solidFill>
              <a:srgbClr val="8585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418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7953801" cy="1264108"/>
          </a:xfrm>
        </p:spPr>
        <p:txBody>
          <a:bodyPr/>
          <a:lstStyle/>
          <a:p>
            <a:r>
              <a:rPr lang="en-GB" dirty="0"/>
              <a:t>Project Implementation/Methodology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A34093-5619-4F99-97CD-C46106FF1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9144000" cy="462599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i="0" dirty="0">
                <a:solidFill>
                  <a:schemeClr val="tx1"/>
                </a:solidFill>
              </a:rPr>
              <a:t> </a:t>
            </a:r>
            <a:r>
              <a:rPr lang="en-US" sz="2400" i="0" dirty="0">
                <a:solidFill>
                  <a:schemeClr val="tx1"/>
                </a:solidFill>
              </a:rPr>
              <a:t>Parts to be used </a:t>
            </a:r>
            <a:endParaRPr lang="en-US" sz="2000" i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900" i="0" dirty="0">
              <a:solidFill>
                <a:schemeClr val="tx1"/>
              </a:solidFill>
            </a:endParaRPr>
          </a:p>
          <a:p>
            <a:r>
              <a:rPr lang="en-US" sz="2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Peltier modules - 12706 - 12 volt 6 amp max temp 138 C cooling temp 0C</a:t>
            </a:r>
          </a:p>
          <a:p>
            <a:r>
              <a:rPr lang="en-US" sz="2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Dc cooling fan </a:t>
            </a:r>
          </a:p>
          <a:p>
            <a:r>
              <a:rPr lang="en-IN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Supporting Frame</a:t>
            </a:r>
          </a:p>
          <a:p>
            <a:r>
              <a:rPr lang="en-IN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Digital Thermometer with LCD display</a:t>
            </a:r>
            <a:endParaRPr lang="en-IN" sz="18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SMPS</a:t>
            </a:r>
          </a:p>
          <a:p>
            <a:r>
              <a:rPr lang="en-US" sz="2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Heat sink </a:t>
            </a:r>
          </a:p>
          <a:p>
            <a:r>
              <a:rPr lang="en-IN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Screws &amp; Joints</a:t>
            </a:r>
          </a:p>
          <a:p>
            <a:pPr marL="0" indent="0">
              <a:buNone/>
            </a:pPr>
            <a:endParaRPr lang="en-US" sz="2000" i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i="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000" i="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US" sz="2000" i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14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27262-045F-47FE-BDE0-C8910D16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14400"/>
            <a:ext cx="9144000" cy="5006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0" dirty="0">
                <a:solidFill>
                  <a:schemeClr val="tx1"/>
                </a:solidFill>
              </a:rPr>
              <a:t>  </a:t>
            </a:r>
            <a:r>
              <a:rPr lang="en-US" sz="3200" i="0" dirty="0">
                <a:solidFill>
                  <a:schemeClr val="tx1"/>
                </a:solidFill>
              </a:rPr>
              <a:t>Advantages</a:t>
            </a:r>
          </a:p>
          <a:p>
            <a:endParaRPr lang="en-US" sz="1200" b="0" i="0" dirty="0">
              <a:solidFill>
                <a:schemeClr val="tx1"/>
              </a:solidFill>
            </a:endParaRPr>
          </a:p>
          <a:p>
            <a:r>
              <a:rPr lang="en-US" sz="2000" b="0" i="0" dirty="0">
                <a:solidFill>
                  <a:schemeClr val="tx1"/>
                </a:solidFill>
              </a:rPr>
              <a:t>Compact size make them useful for applications where size or weight is constraint.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Able to operate in any orientation.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Ability to alternate between heating and cooling.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No moving parts makes them very reliable.</a:t>
            </a: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IN" sz="2000" b="0" i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05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i="0" dirty="0">
                <a:solidFill>
                  <a:schemeClr val="tx1"/>
                </a:solidFill>
              </a:rPr>
              <a:t>  </a:t>
            </a:r>
            <a:r>
              <a:rPr lang="en-US" sz="2800" i="0" dirty="0">
                <a:solidFill>
                  <a:schemeClr val="tx1"/>
                </a:solidFill>
              </a:rPr>
              <a:t>Cooling</a:t>
            </a:r>
            <a:endParaRPr lang="en-US" sz="1600" b="0" i="0" dirty="0">
              <a:solidFill>
                <a:schemeClr val="tx1"/>
              </a:solidFill>
            </a:endParaRPr>
          </a:p>
          <a:p>
            <a:r>
              <a:rPr lang="en-US" sz="2000" b="0" i="0" dirty="0">
                <a:solidFill>
                  <a:schemeClr val="tx1"/>
                </a:solidFill>
              </a:rPr>
              <a:t>Electronic enclosures 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Cooling electronic components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Cooling laboratory instruments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Refrigerators</a:t>
            </a:r>
          </a:p>
          <a:p>
            <a:r>
              <a:rPr lang="en-US" sz="2000" b="0" i="0" dirty="0">
                <a:solidFill>
                  <a:schemeClr val="tx1"/>
                </a:solidFill>
              </a:rPr>
              <a:t>Temperature control in missiles and space system </a:t>
            </a:r>
          </a:p>
          <a:p>
            <a:endParaRPr lang="en-US" sz="2000" b="0" i="0" dirty="0">
              <a:solidFill>
                <a:schemeClr val="tx1"/>
              </a:solidFill>
            </a:endParaRPr>
          </a:p>
          <a:p>
            <a:endParaRPr lang="en-IN" sz="2400" b="0" i="0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21CFB6-5D6B-4D10-922A-12ECDA1E0C0C}"/>
              </a:ext>
            </a:extLst>
          </p:cNvPr>
          <p:cNvSpPr txBox="1">
            <a:spLocks/>
          </p:cNvSpPr>
          <p:nvPr/>
        </p:nvSpPr>
        <p:spPr>
          <a:xfrm>
            <a:off x="1790700" y="31293"/>
            <a:ext cx="7454900" cy="1264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75" b="1" kern="120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aseline="0"/>
              <a:t>                 Applications</a:t>
            </a:r>
            <a:endParaRPr lang="en-IN" baseline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84DD1-5752-4BAB-974C-83D050781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44" y="3926414"/>
            <a:ext cx="2717929" cy="2144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5471A0-50D9-4DE2-8117-A61DD47D95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417" y="3989932"/>
            <a:ext cx="3162397" cy="20076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3936FC-FDDA-4658-99B0-E4A7F6E3E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382" y="4016392"/>
            <a:ext cx="23050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08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878A4B9-5E7C-4769-ABA5-E878EF67873C}"/>
              </a:ext>
            </a:extLst>
          </p:cNvPr>
          <p:cNvSpPr txBox="1">
            <a:spLocks/>
          </p:cNvSpPr>
          <p:nvPr/>
        </p:nvSpPr>
        <p:spPr>
          <a:xfrm>
            <a:off x="1790699" y="31293"/>
            <a:ext cx="8115301" cy="1264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75" b="1" kern="120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baseline="0"/>
              <a:t>(Gantt chart)Schedule of project work</a:t>
            </a:r>
            <a:endParaRPr lang="en-IN" baseline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152CE1-A54F-4E81-AD0F-8793EC492DB2}"/>
              </a:ext>
            </a:extLst>
          </p:cNvPr>
          <p:cNvSpPr txBox="1">
            <a:spLocks/>
          </p:cNvSpPr>
          <p:nvPr/>
        </p:nvSpPr>
        <p:spPr>
          <a:xfrm>
            <a:off x="1790699" y="31293"/>
            <a:ext cx="8115301" cy="1264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75" b="1" kern="120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baseline="0"/>
              <a:t>(Gantt chart)Schedule of project work</a:t>
            </a:r>
            <a:endParaRPr lang="en-IN" baseline="0" dirty="0"/>
          </a:p>
        </p:txBody>
      </p:sp>
      <p:graphicFrame>
        <p:nvGraphicFramePr>
          <p:cNvPr id="15" name="Table 38">
            <a:extLst>
              <a:ext uri="{FF2B5EF4-FFF2-40B4-BE49-F238E27FC236}">
                <a16:creationId xmlns:a16="http://schemas.microsoft.com/office/drawing/2014/main" id="{AEDCF706-D57A-46BD-A26F-939DFFC3C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681231"/>
              </p:ext>
            </p:extLst>
          </p:nvPr>
        </p:nvGraphicFramePr>
        <p:xfrm>
          <a:off x="233265" y="2040964"/>
          <a:ext cx="9450505" cy="2723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3134">
                  <a:extLst>
                    <a:ext uri="{9D8B030D-6E8A-4147-A177-3AD203B41FA5}">
                      <a16:colId xmlns:a16="http://schemas.microsoft.com/office/drawing/2014/main" val="3966215585"/>
                    </a:ext>
                  </a:extLst>
                </a:gridCol>
                <a:gridCol w="6727371">
                  <a:extLst>
                    <a:ext uri="{9D8B030D-6E8A-4147-A177-3AD203B41FA5}">
                      <a16:colId xmlns:a16="http://schemas.microsoft.com/office/drawing/2014/main" val="3547840322"/>
                    </a:ext>
                  </a:extLst>
                </a:gridCol>
              </a:tblGrid>
              <a:tr h="37426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        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   Purchasing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97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n-lt"/>
                        </a:rPr>
                        <a:t>    Making Outer Body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379417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+mn-lt"/>
                        </a:rPr>
                        <a:t>     </a:t>
                      </a:r>
                      <a:r>
                        <a:rPr lang="en-US" sz="1600" b="1" dirty="0">
                          <a:latin typeface="+mn-lt"/>
                        </a:rPr>
                        <a:t>Assembling the Electronics</a:t>
                      </a:r>
                      <a:endParaRPr lang="en-IN" sz="1600" b="1" i="0" dirty="0">
                        <a:solidFill>
                          <a:srgbClr val="292929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25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rgbClr val="292929"/>
                          </a:solidFill>
                          <a:latin typeface="+mn-lt"/>
                        </a:rPr>
                        <a:t>Assembling the Electronic part with Outer Body</a:t>
                      </a:r>
                      <a:endParaRPr lang="en-IN" sz="1400" b="1" i="0" dirty="0">
                        <a:solidFill>
                          <a:srgbClr val="292929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3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+mn-lt"/>
                        </a:rPr>
                        <a:t>  </a:t>
                      </a:r>
                      <a:r>
                        <a:rPr lang="en-US" sz="1200" b="1" dirty="0">
                          <a:latin typeface="+mn-lt"/>
                        </a:rPr>
                        <a:t>    </a:t>
                      </a:r>
                      <a:r>
                        <a:rPr lang="en-US" sz="1600" b="1" dirty="0">
                          <a:latin typeface="+mn-lt"/>
                        </a:rPr>
                        <a:t>Testing &amp; Troubleshooting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851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+mn-lt"/>
                        </a:rPr>
                        <a:t> Report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110905"/>
                  </a:ext>
                </a:extLst>
              </a:tr>
              <a:tr h="38328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01768"/>
                  </a:ext>
                </a:extLst>
              </a:tr>
            </a:tbl>
          </a:graphicData>
        </a:graphic>
      </p:graphicFrame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DC4B1C-68FF-4A07-B32A-B8CA8D8E62FE}"/>
              </a:ext>
            </a:extLst>
          </p:cNvPr>
          <p:cNvSpPr/>
          <p:nvPr/>
        </p:nvSpPr>
        <p:spPr>
          <a:xfrm>
            <a:off x="2967134" y="2062269"/>
            <a:ext cx="1343609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dirty="0">
                <a:solidFill>
                  <a:schemeClr val="tx1"/>
                </a:solidFill>
              </a:rPr>
              <a:t> </a:t>
            </a:r>
            <a:endParaRPr lang="en-IN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AD9E5E40-5298-4BD2-A4DA-B81BCDFE0DFE}"/>
              </a:ext>
            </a:extLst>
          </p:cNvPr>
          <p:cNvSpPr/>
          <p:nvPr/>
        </p:nvSpPr>
        <p:spPr>
          <a:xfrm>
            <a:off x="3750907" y="2417036"/>
            <a:ext cx="1399592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50118FF4-1C9A-47C4-B585-FFF58975D08D}"/>
              </a:ext>
            </a:extLst>
          </p:cNvPr>
          <p:cNvSpPr/>
          <p:nvPr/>
        </p:nvSpPr>
        <p:spPr>
          <a:xfrm>
            <a:off x="6102219" y="3214777"/>
            <a:ext cx="1399592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DFEAB649-6BFB-40DD-8E21-9BE6F7537191}"/>
              </a:ext>
            </a:extLst>
          </p:cNvPr>
          <p:cNvSpPr/>
          <p:nvPr/>
        </p:nvSpPr>
        <p:spPr>
          <a:xfrm>
            <a:off x="4730619" y="2780643"/>
            <a:ext cx="1539551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4A8ECE47-948F-413C-BCF2-4D2B141A385B}"/>
              </a:ext>
            </a:extLst>
          </p:cNvPr>
          <p:cNvSpPr/>
          <p:nvPr/>
        </p:nvSpPr>
        <p:spPr>
          <a:xfrm>
            <a:off x="7058056" y="3658053"/>
            <a:ext cx="1754155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CEDAF12B-68E4-49C8-ADEE-FF6548EE1DB8}"/>
              </a:ext>
            </a:extLst>
          </p:cNvPr>
          <p:cNvSpPr/>
          <p:nvPr/>
        </p:nvSpPr>
        <p:spPr>
          <a:xfrm>
            <a:off x="8612153" y="4021015"/>
            <a:ext cx="1026367" cy="29858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2" name="Table 3">
            <a:extLst>
              <a:ext uri="{FF2B5EF4-FFF2-40B4-BE49-F238E27FC236}">
                <a16:creationId xmlns:a16="http://schemas.microsoft.com/office/drawing/2014/main" id="{77B5C3DD-0E23-40AD-AB0E-62318DAAD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552131"/>
              </p:ext>
            </p:extLst>
          </p:nvPr>
        </p:nvGraphicFramePr>
        <p:xfrm>
          <a:off x="2901820" y="1387617"/>
          <a:ext cx="6736700" cy="653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340">
                  <a:extLst>
                    <a:ext uri="{9D8B030D-6E8A-4147-A177-3AD203B41FA5}">
                      <a16:colId xmlns:a16="http://schemas.microsoft.com/office/drawing/2014/main" val="2245091821"/>
                    </a:ext>
                  </a:extLst>
                </a:gridCol>
                <a:gridCol w="1347340">
                  <a:extLst>
                    <a:ext uri="{9D8B030D-6E8A-4147-A177-3AD203B41FA5}">
                      <a16:colId xmlns:a16="http://schemas.microsoft.com/office/drawing/2014/main" val="1153749299"/>
                    </a:ext>
                  </a:extLst>
                </a:gridCol>
                <a:gridCol w="1308153">
                  <a:extLst>
                    <a:ext uri="{9D8B030D-6E8A-4147-A177-3AD203B41FA5}">
                      <a16:colId xmlns:a16="http://schemas.microsoft.com/office/drawing/2014/main" val="401289053"/>
                    </a:ext>
                  </a:extLst>
                </a:gridCol>
                <a:gridCol w="1386527">
                  <a:extLst>
                    <a:ext uri="{9D8B030D-6E8A-4147-A177-3AD203B41FA5}">
                      <a16:colId xmlns:a16="http://schemas.microsoft.com/office/drawing/2014/main" val="1760943633"/>
                    </a:ext>
                  </a:extLst>
                </a:gridCol>
                <a:gridCol w="1347340">
                  <a:extLst>
                    <a:ext uri="{9D8B030D-6E8A-4147-A177-3AD203B41FA5}">
                      <a16:colId xmlns:a16="http://schemas.microsoft.com/office/drawing/2014/main" val="3678256409"/>
                    </a:ext>
                  </a:extLst>
                </a:gridCol>
              </a:tblGrid>
              <a:tr h="653347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19 march – 23 march</a:t>
                      </a:r>
                      <a:endParaRPr lang="en-IN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23 march -  31 march</a:t>
                      </a:r>
                      <a:endParaRPr lang="en-IN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 April– 7 April </a:t>
                      </a:r>
                      <a:endParaRPr lang="en-IN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8 April– 15 April </a:t>
                      </a:r>
                      <a:endParaRPr lang="en-IN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16 April – 23 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28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53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353" y="68615"/>
            <a:ext cx="7454900" cy="1264108"/>
          </a:xfrm>
        </p:spPr>
        <p:txBody>
          <a:bodyPr/>
          <a:lstStyle/>
          <a:p>
            <a:r>
              <a:rPr lang="en-GB" dirty="0"/>
              <a:t>                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07706"/>
            <a:ext cx="9144000" cy="4913687"/>
          </a:xfrm>
        </p:spPr>
        <p:txBody>
          <a:bodyPr/>
          <a:lstStyle/>
          <a:p>
            <a:endParaRPr lang="en-IN" sz="2000" b="0" i="0" dirty="0">
              <a:solidFill>
                <a:srgbClr val="202122"/>
              </a:solidFill>
              <a:effectLst/>
            </a:endParaRPr>
          </a:p>
          <a:p>
            <a:endParaRPr lang="en-IN" sz="2000" b="0" i="0" dirty="0">
              <a:solidFill>
                <a:srgbClr val="202122"/>
              </a:solidFill>
            </a:endParaRPr>
          </a:p>
          <a:p>
            <a:r>
              <a:rPr lang="en-IN" sz="2000" b="0" i="0" dirty="0">
                <a:solidFill>
                  <a:srgbClr val="202122"/>
                </a:solidFill>
                <a:effectLst/>
              </a:rPr>
              <a:t>Taylor, R.A.; Solbrekken, G.L. (2008). "Comprehensive system-level optimization of thermoelectric devices for electronic cooling applications". </a:t>
            </a:r>
            <a:r>
              <a:rPr lang="en-IN" sz="2000" b="0" i="1" dirty="0">
                <a:solidFill>
                  <a:srgbClr val="202122"/>
                </a:solidFill>
                <a:effectLst/>
              </a:rPr>
              <a:t>IEEE Transactions on Components and Packaging Technologies</a:t>
            </a:r>
            <a:r>
              <a:rPr lang="en-IN" sz="2000" b="0" i="0" dirty="0">
                <a:solidFill>
                  <a:srgbClr val="202122"/>
                </a:solidFill>
                <a:effectLst/>
              </a:rPr>
              <a:t>.</a:t>
            </a:r>
            <a:endParaRPr lang="en-US" sz="2000" b="0" dirty="0">
              <a:solidFill>
                <a:srgbClr val="222222"/>
              </a:solidFill>
              <a:effectLst/>
            </a:endParaRP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000" b="0" i="0" dirty="0">
                <a:solidFill>
                  <a:srgbClr val="202122"/>
                </a:solidFill>
                <a:effectLst/>
              </a:rPr>
              <a:t>Zhao, Donglian g (May 2014). "A review of thermoelectric cooling: Materials, modeling and applications". Applied Thermal Engineering.</a:t>
            </a:r>
          </a:p>
          <a:p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000" b="0" dirty="0">
                <a:solidFill>
                  <a:srgbClr val="202122"/>
                </a:solidFill>
                <a:effectLst/>
              </a:rPr>
              <a:t>Poudel, Bed (May 2008). </a:t>
            </a:r>
            <a:r>
              <a:rPr lang="en-US" sz="2000" b="0" u="sng" dirty="0">
                <a:solidFill>
                  <a:srgbClr val="3366BB"/>
                </a:solidFill>
                <a:effectLst/>
                <a:hlinkClick r:id="rId3"/>
              </a:rPr>
              <a:t>"High-Thermoelectric Performance of Nanostructured Bismuth Antimony Telluride Bulk Alloys"</a:t>
            </a:r>
            <a:r>
              <a:rPr lang="en-US" sz="2000" b="0" dirty="0">
                <a:solidFill>
                  <a:srgbClr val="202122"/>
                </a:solidFill>
                <a:effectLst/>
              </a:rPr>
              <a:t>. Science.</a:t>
            </a:r>
          </a:p>
          <a:p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000" b="0" i="0" dirty="0">
                <a:solidFill>
                  <a:srgbClr val="202122"/>
                </a:solidFill>
                <a:effectLst/>
              </a:rPr>
              <a:t>Brown, D. R.; N. Fernandez; J. A. Dirks; T. B. Stout (March 2010). </a:t>
            </a:r>
            <a:r>
              <a:rPr lang="en-US" sz="2000" b="0" i="0" u="none" strike="noStrike" dirty="0">
                <a:solidFill>
                  <a:srgbClr val="3366BB"/>
                </a:solidFill>
                <a:effectLst/>
                <a:hlinkClick r:id="rId4"/>
              </a:rPr>
              <a:t>"The Prospects of Alternatives to Vapor Compression Technology for Space Cooling and Food Refrigeration Applications"</a:t>
            </a:r>
            <a:r>
              <a:rPr lang="en-US" sz="2000" b="0" i="0" dirty="0">
                <a:solidFill>
                  <a:srgbClr val="202122"/>
                </a:solidFill>
                <a:effectLst/>
              </a:rPr>
              <a:t> (PDF).</a:t>
            </a:r>
            <a:r>
              <a:rPr lang="en-US" sz="2000" b="0" dirty="0">
                <a:solidFill>
                  <a:srgbClr val="202122"/>
                </a:solidFill>
                <a:effectLst/>
              </a:rPr>
              <a:t> Pacific Northwest National Laboratory (PNL). </a:t>
            </a:r>
            <a:r>
              <a:rPr lang="en-US" sz="2000" b="0" i="0" dirty="0">
                <a:solidFill>
                  <a:srgbClr val="202122"/>
                </a:solidFill>
                <a:effectLst/>
              </a:rPr>
              <a:t>U.S. Department of Energy. Retrieved 16 March 2013.</a:t>
            </a:r>
          </a:p>
          <a:p>
            <a:r>
              <a:rPr lang="en-US" sz="2000" b="0" i="0" dirty="0">
                <a:solidFill>
                  <a:srgbClr val="202122"/>
                </a:solidFill>
                <a:effectLst/>
              </a:rPr>
              <a:t>https://espressomilkcooler.com/thermoelectric-peltier-cooler-module-selection/</a:t>
            </a:r>
          </a:p>
          <a:p>
            <a:endParaRPr lang="en-IN" sz="2000" i="0" dirty="0"/>
          </a:p>
        </p:txBody>
      </p:sp>
    </p:spTree>
    <p:extLst>
      <p:ext uri="{BB962C8B-B14F-4D97-AF65-F5344CB8AC3E}">
        <p14:creationId xmlns:p14="http://schemas.microsoft.com/office/powerpoint/2010/main" val="389306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32940</TotalTime>
  <Words>539</Words>
  <Application>Microsoft Office PowerPoint</Application>
  <PresentationFormat>A4 Paper (210x297 mm)</PresentationFormat>
  <Paragraphs>174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Portable Mini Refrigerator </vt:lpstr>
      <vt:lpstr>         Problem Definition</vt:lpstr>
      <vt:lpstr>              Introduction</vt:lpstr>
      <vt:lpstr>PowerPoint Presentation</vt:lpstr>
      <vt:lpstr>PowerPoint Presentation</vt:lpstr>
      <vt:lpstr>Circuit Diagram</vt:lpstr>
      <vt:lpstr>Exploded View</vt:lpstr>
      <vt:lpstr>Project Implementation/Methodology</vt:lpstr>
      <vt:lpstr>PowerPoint Presentation</vt:lpstr>
      <vt:lpstr>                 Applications</vt:lpstr>
      <vt:lpstr>PowerPoint Presentation</vt:lpstr>
      <vt:lpstr>                References</vt:lpstr>
    </vt:vector>
  </TitlesOfParts>
  <Company>iitb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CoFG_SCwAIHS</dc:title>
  <dc:subject>Comparison of Fin Geometries in Solar Collector with Absorber Integrated Heat Storage</dc:subject>
  <dc:creator>Prof M V Rane, PhD_SJS, DDP_AP</dc:creator>
  <cp:keywords>IC_Solar-iCon 2016+Conference Presentation</cp:keywords>
  <cp:lastModifiedBy>SSPO .</cp:lastModifiedBy>
  <cp:revision>1794</cp:revision>
  <cp:lastPrinted>2016-01-26T15:41:14Z</cp:lastPrinted>
  <dcterms:created xsi:type="dcterms:W3CDTF">2001-12-15T12:25:16Z</dcterms:created>
  <dcterms:modified xsi:type="dcterms:W3CDTF">2021-03-28T11:54:37Z</dcterms:modified>
  <cp:version>28</cp:version>
</cp:coreProperties>
</file>