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6" r:id="rId1"/>
  </p:sldMasterIdLst>
  <p:notesMasterIdLst>
    <p:notesMasterId r:id="rId22"/>
  </p:notesMasterIdLst>
  <p:handoutMasterIdLst>
    <p:handoutMasterId r:id="rId23"/>
  </p:handoutMasterIdLst>
  <p:sldIdLst>
    <p:sldId id="702" r:id="rId2"/>
    <p:sldId id="731" r:id="rId3"/>
    <p:sldId id="734" r:id="rId4"/>
    <p:sldId id="751" r:id="rId5"/>
    <p:sldId id="752" r:id="rId6"/>
    <p:sldId id="747" r:id="rId7"/>
    <p:sldId id="745" r:id="rId8"/>
    <p:sldId id="744" r:id="rId9"/>
    <p:sldId id="743" r:id="rId10"/>
    <p:sldId id="733" r:id="rId11"/>
    <p:sldId id="742" r:id="rId12"/>
    <p:sldId id="746" r:id="rId13"/>
    <p:sldId id="754" r:id="rId14"/>
    <p:sldId id="735" r:id="rId15"/>
    <p:sldId id="741" r:id="rId16"/>
    <p:sldId id="750" r:id="rId17"/>
    <p:sldId id="736" r:id="rId18"/>
    <p:sldId id="737" r:id="rId19"/>
    <p:sldId id="749" r:id="rId20"/>
    <p:sldId id="753" r:id="rId21"/>
  </p:sldIdLst>
  <p:sldSz cx="9906000" cy="6858000" type="A4"/>
  <p:notesSz cx="9928225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 baseline="300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000000"/>
    <a:srgbClr val="3333FF"/>
    <a:srgbClr val="66FF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554" autoAdjust="0"/>
  </p:normalViewPr>
  <p:slideViewPr>
    <p:cSldViewPr snapToGrid="0">
      <p:cViewPr varScale="1">
        <p:scale>
          <a:sx n="82" d="100"/>
          <a:sy n="82" d="100"/>
        </p:scale>
        <p:origin x="1229" y="91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31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>
      <p:cViewPr varScale="1">
        <p:scale>
          <a:sx n="39" d="100"/>
          <a:sy n="39" d="100"/>
        </p:scale>
        <p:origin x="-1416" y="-82"/>
      </p:cViewPr>
      <p:guideLst>
        <p:guide orient="horz" pos="2141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300281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7946" y="1"/>
            <a:ext cx="4300280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7328"/>
            <a:ext cx="4300281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7946" y="6457328"/>
            <a:ext cx="4300280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fld id="{BE335682-4CA4-44DF-A337-E7A5CD4FA1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633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300281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7946" y="1"/>
            <a:ext cx="4300280" cy="34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7375" y="511175"/>
            <a:ext cx="3678238" cy="25463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165" y="3230407"/>
            <a:ext cx="7281900" cy="305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7328"/>
            <a:ext cx="4300281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>
              <a:defRPr sz="1100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7946" y="6457328"/>
            <a:ext cx="4300280" cy="3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641" tIns="44822" rIns="89641" bIns="44822" numCol="1" anchor="b" anchorCtr="0" compatLnSpc="1">
            <a:prstTxWarp prst="textNoShape">
              <a:avLst/>
            </a:prstTxWarp>
          </a:bodyPr>
          <a:lstStyle>
            <a:lvl1pPr algn="r">
              <a:defRPr sz="1100" baseline="0"/>
            </a:lvl1pPr>
          </a:lstStyle>
          <a:p>
            <a:pPr>
              <a:defRPr/>
            </a:pPr>
            <a:fld id="{CB30024D-4627-405D-A7F3-D6C165B1EC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3621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30024D-4627-405D-A7F3-D6C165B1ECB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0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Students:  </a:t>
            </a:r>
          </a:p>
          <a:p>
            <a:r>
              <a:rPr lang="en-IN" dirty="0"/>
              <a:t>Guide:</a:t>
            </a: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DEPARTMENT  OF  MECHANICAL  ENGINEERING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73A77C17-EA0C-43C5-A652-2E086C9A1109}" type="slidenum">
              <a:rPr lang="en-US" sz="1000" smtClean="0">
                <a:solidFill>
                  <a:srgbClr val="000000"/>
                </a:solidFill>
              </a:rPr>
              <a:pPr/>
              <a:t>‹#›</a:t>
            </a:fld>
            <a:r>
              <a:rPr lang="en-US" sz="1000" dirty="0">
                <a:solidFill>
                  <a:srgbClr val="000000"/>
                </a:solidFill>
              </a:rPr>
              <a:t> of  10</a:t>
            </a:r>
          </a:p>
          <a:p>
            <a:fld id="{09F959BE-1531-4FF1-B258-6746580D107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64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8021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5pPr>
              <a:defRPr sz="1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0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371600"/>
            <a:ext cx="9144000" cy="4549793"/>
          </a:xfrm>
        </p:spPr>
        <p:txBody>
          <a:bodyPr/>
          <a:lstStyle>
            <a:lvl5pPr>
              <a:defRPr sz="1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1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53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0700" y="31293"/>
            <a:ext cx="7454900" cy="1264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029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Title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1381" y="31293"/>
            <a:ext cx="1792081" cy="731251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0" y="6035149"/>
            <a:ext cx="9906000" cy="50270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 lang="en-US" sz="1000" kern="1200" baseline="300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	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DEPARTMENT  OF  MECHATRONICS  ENGINEERING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				</a:t>
            </a:r>
            <a:fld id="{73A77C17-EA0C-43C5-A652-2E086C9A1109}" type="slidenum">
              <a:rPr lang="en-US" sz="1600" baseline="30000" smtClean="0">
                <a:solidFill>
                  <a:schemeClr val="tx1"/>
                </a:solidFill>
              </a:rPr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600" baseline="30000" dirty="0">
                <a:solidFill>
                  <a:schemeClr val="tx1"/>
                </a:solidFill>
              </a:rPr>
              <a:t> of  10</a:t>
            </a:r>
          </a:p>
          <a:p>
            <a:pPr algn="ctr">
              <a:defRPr/>
            </a:pPr>
            <a:endParaRPr kumimoji="0" lang="en-US" sz="12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2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8" r:id="rId2"/>
    <p:sldLayoutId id="2147483669" r:id="rId3"/>
    <p:sldLayoutId id="2147483670" r:id="rId4"/>
    <p:sldLayoutId id="2147483671" r:id="rId5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b="1" kern="1200">
          <a:solidFill>
            <a:srgbClr val="FF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b="1" i="1" kern="1200">
          <a:solidFill>
            <a:schemeClr val="accent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i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ndesk.co/" TargetMode="External"/><Relationship Id="rId2" Type="http://schemas.openxmlformats.org/officeDocument/2006/relationships/hyperlink" Target="https://en.wikipedia.org/wik/Convolutional_neural_network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aircAruvnKk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022" y="357864"/>
            <a:ext cx="7454900" cy="1264108"/>
          </a:xfrm>
        </p:spPr>
        <p:txBody>
          <a:bodyPr/>
          <a:lstStyle/>
          <a:p>
            <a:r>
              <a:rPr lang="en-IN" dirty="0"/>
              <a:t>DEEP LEARNING For Recognizing Hand-Written Digits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79436" y="1446877"/>
            <a:ext cx="9051925" cy="472024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120000"/>
              <a:buChar char="•"/>
              <a:defRPr sz="1800" b="1" i="1">
                <a:solidFill>
                  <a:srgbClr val="3333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b="1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200" b="0" i="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Tx/>
              <a:buNone/>
            </a:pPr>
            <a:endParaRPr lang="en-US" kern="0" baseline="0" dirty="0"/>
          </a:p>
          <a:p>
            <a:pPr algn="ctr" eaLnBrk="1" hangingPunct="1">
              <a:buFontTx/>
              <a:buNone/>
            </a:pPr>
            <a:endParaRPr lang="en-US" kern="0" baseline="0" dirty="0"/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OMKAR GUJJA ( 71 ) 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SHASHIKANT SADHAPHULE (62)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ADVAIT BHOSLE (72)</a:t>
            </a:r>
          </a:p>
          <a:p>
            <a:pPr algn="ctr" eaLnBrk="1" hangingPunct="1">
              <a:buFontTx/>
              <a:buNone/>
            </a:pPr>
            <a:endParaRPr lang="en-US" kern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 algn="ctr" eaLnBrk="1" hangingPunct="1"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 </a:t>
            </a:r>
            <a:r>
              <a:rPr lang="en-US" kern="0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Raghuvendra</a:t>
            </a: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S. Upadhyay</a:t>
            </a:r>
            <a:endParaRPr lang="en-US" kern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None/>
            </a:pPr>
            <a:endParaRPr lang="en-US" kern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kern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Mechatronics Engineering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  ENGINEERING  COLLEGE  NERUL</a:t>
            </a:r>
          </a:p>
          <a:p>
            <a:pPr algn="ctr" eaLnBrk="1" hangingPunct="1">
              <a:buFontTx/>
              <a:buNone/>
            </a:pPr>
            <a:r>
              <a:rPr lang="en-US" kern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Mumbai</a:t>
            </a:r>
          </a:p>
        </p:txBody>
      </p:sp>
    </p:spTree>
    <p:extLst>
      <p:ext uri="{BB962C8B-B14F-4D97-AF65-F5344CB8AC3E}">
        <p14:creationId xmlns:p14="http://schemas.microsoft.com/office/powerpoint/2010/main" val="295379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3F7556AB-469B-4B87-899B-B748A6CA2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888" y="1222310"/>
            <a:ext cx="4407594" cy="4549775"/>
          </a:xfrm>
        </p:spPr>
      </p:pic>
    </p:spTree>
    <p:extLst>
      <p:ext uri="{BB962C8B-B14F-4D97-AF65-F5344CB8AC3E}">
        <p14:creationId xmlns:p14="http://schemas.microsoft.com/office/powerpoint/2010/main" val="652972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3363D"/>
                </a:solidFill>
                <a:effectLst/>
                <a:latin typeface="sharp sans en"/>
              </a:rPr>
              <a:t>What is machine learning?</a:t>
            </a:r>
          </a:p>
          <a:p>
            <a:r>
              <a:rPr lang="en-US" b="0" i="1" dirty="0">
                <a:solidFill>
                  <a:srgbClr val="17494D"/>
                </a:solidFill>
                <a:effectLst/>
                <a:latin typeface="Proxima Nova"/>
              </a:rPr>
              <a:t>“Algorithms that parse data, learn from that data, and then apply what they’ve learned to make informed decisions”</a:t>
            </a:r>
          </a:p>
          <a:p>
            <a:pPr marL="0" indent="0">
              <a:buNone/>
            </a:pPr>
            <a:endParaRPr lang="en-US" b="0" i="1" dirty="0">
              <a:solidFill>
                <a:srgbClr val="17494D"/>
              </a:solidFill>
              <a:effectLst/>
              <a:latin typeface="Proxima Nova"/>
            </a:endParaRPr>
          </a:p>
          <a:p>
            <a:endParaRPr lang="en-US" b="0" i="1" dirty="0">
              <a:solidFill>
                <a:srgbClr val="17494D"/>
              </a:solidFill>
              <a:effectLst/>
              <a:latin typeface="Proxima Nova"/>
            </a:endParaRPr>
          </a:p>
          <a:p>
            <a:r>
              <a:rPr lang="en-IN" b="1" i="0" dirty="0">
                <a:solidFill>
                  <a:srgbClr val="03363D"/>
                </a:solidFill>
                <a:effectLst/>
                <a:latin typeface="sharp sans en"/>
              </a:rPr>
              <a:t>What is Deep Learning?</a:t>
            </a:r>
            <a:endParaRPr lang="en-US" b="0" dirty="0">
              <a:solidFill>
                <a:srgbClr val="17494D"/>
              </a:solidFill>
              <a:latin typeface="Proxima Nova"/>
            </a:endParaRPr>
          </a:p>
          <a:p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Deep learning structures algorithms in layers to create an "artificial neural network” that can learn and make intelligent decisions on its own</a:t>
            </a:r>
          </a:p>
          <a:p>
            <a:endParaRPr lang="en-IN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50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vs DL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4634FDB-F86A-4BD5-9F01-81DBF2295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1560512"/>
            <a:ext cx="7896225" cy="4171950"/>
          </a:xfrm>
        </p:spPr>
      </p:pic>
    </p:spTree>
    <p:extLst>
      <p:ext uri="{BB962C8B-B14F-4D97-AF65-F5344CB8AC3E}">
        <p14:creationId xmlns:p14="http://schemas.microsoft.com/office/powerpoint/2010/main" val="3835045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2236-4D62-4162-9D66-6FDA5FA00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Pros vs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0775B-5CD3-472C-BCFE-33E04811E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 Advantages of Deep Learning</a:t>
            </a:r>
          </a:p>
          <a:p>
            <a:r>
              <a:rPr lang="en-US" sz="2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The deep learning architecture is flexible to be adapted to new problems in the future.</a:t>
            </a:r>
          </a:p>
          <a:p>
            <a:r>
              <a:rPr lang="en-US" sz="2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Massive parallel computations can be performed using GPUs and are scalable for large volumes of data.</a:t>
            </a:r>
          </a:p>
          <a:p>
            <a:endParaRPr lang="en-US" sz="1800" b="0" i="0" dirty="0">
              <a:solidFill>
                <a:srgbClr val="555555"/>
              </a:solidFill>
              <a:effectLst/>
              <a:latin typeface="Arial" panose="020B0604020202020204" pitchFamily="34" charset="0"/>
            </a:endParaRPr>
          </a:p>
          <a:p>
            <a:r>
              <a:rPr lang="en-IN" i="0" dirty="0">
                <a:solidFill>
                  <a:srgbClr val="666666"/>
                </a:solidFill>
                <a:latin typeface="Arial" panose="020B0604020202020204" pitchFamily="34" charset="0"/>
              </a:rPr>
              <a:t>D</a:t>
            </a:r>
            <a:r>
              <a:rPr lang="en-IN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isadvantages of Deep Learning</a:t>
            </a:r>
          </a:p>
          <a:p>
            <a:r>
              <a:rPr lang="en-US" sz="2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It requires very large amount of data in order to perform better than other techniques.</a:t>
            </a:r>
            <a:endParaRPr lang="en-IN" sz="2000" i="0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r>
              <a:rPr lang="en-US" sz="2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It is extremely expensive to train due to complex data models.</a:t>
            </a:r>
            <a:endParaRPr lang="en-IN" sz="2000" b="1" i="0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There is no standard theory to guide you in selecting right deep learning tools as it requires knowledge of topology, training method and other parameters. As a result it is difficult to be adopted by less skilled people</a:t>
            </a:r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.</a:t>
            </a:r>
            <a:endParaRPr lang="en-IN" b="1" i="0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91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Neural Network?</a:t>
            </a:r>
          </a:p>
        </p:txBody>
      </p:sp>
      <p:pic>
        <p:nvPicPr>
          <p:cNvPr id="7" name="Content Placeholder 6" descr="Diagram, schematic&#10;&#10;Description automatically generated">
            <a:extLst>
              <a:ext uri="{FF2B5EF4-FFF2-40B4-BE49-F238E27FC236}">
                <a16:creationId xmlns:a16="http://schemas.microsoft.com/office/drawing/2014/main" id="{D8C99AA0-BFED-4463-B001-87FE210A9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700" y="1332724"/>
            <a:ext cx="5758252" cy="4189814"/>
          </a:xfrm>
        </p:spPr>
      </p:pic>
    </p:spTree>
    <p:extLst>
      <p:ext uri="{BB962C8B-B14F-4D97-AF65-F5344CB8AC3E}">
        <p14:creationId xmlns:p14="http://schemas.microsoft.com/office/powerpoint/2010/main" val="2944491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Network reads the Image?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4C8F5090-C401-4B02-9636-69AD47963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30" y="1444307"/>
            <a:ext cx="7597140" cy="4404360"/>
          </a:xfrm>
        </p:spPr>
      </p:pic>
    </p:spTree>
    <p:extLst>
      <p:ext uri="{BB962C8B-B14F-4D97-AF65-F5344CB8AC3E}">
        <p14:creationId xmlns:p14="http://schemas.microsoft.com/office/powerpoint/2010/main" val="175329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Hidden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EA14F-CC82-4D68-80FA-06B92311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98" y="905069"/>
            <a:ext cx="8806802" cy="530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58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Hidden Layers</a:t>
            </a:r>
          </a:p>
        </p:txBody>
      </p:sp>
      <p:pic>
        <p:nvPicPr>
          <p:cNvPr id="11" name="Picture 10" descr="A picture containing text, computer&#10;&#10;Description automatically generated">
            <a:extLst>
              <a:ext uri="{FF2B5EF4-FFF2-40B4-BE49-F238E27FC236}">
                <a16:creationId xmlns:a16="http://schemas.microsoft.com/office/drawing/2014/main" id="{0C6E7955-9992-4356-BFAE-8E3B72AD4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062815"/>
            <a:ext cx="8751078" cy="545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81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7953801" cy="1264108"/>
          </a:xfrm>
        </p:spPr>
        <p:txBody>
          <a:bodyPr>
            <a:normAutofit/>
          </a:bodyPr>
          <a:lstStyle/>
          <a:p>
            <a:r>
              <a:rPr lang="en-IN" sz="3200" dirty="0"/>
              <a:t>What is Neuron?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7F2419EA-3376-47CA-AAE6-3BECDBB86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90" y="1314926"/>
            <a:ext cx="6408420" cy="4290060"/>
          </a:xfrm>
        </p:spPr>
      </p:pic>
    </p:spTree>
    <p:extLst>
      <p:ext uri="{BB962C8B-B14F-4D97-AF65-F5344CB8AC3E}">
        <p14:creationId xmlns:p14="http://schemas.microsoft.com/office/powerpoint/2010/main" val="39951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7953801" cy="1264108"/>
          </a:xfrm>
        </p:spPr>
        <p:txBody>
          <a:bodyPr>
            <a:normAutofit/>
          </a:bodyPr>
          <a:lstStyle/>
          <a:p>
            <a:r>
              <a:rPr lang="en-IN" sz="3200" dirty="0"/>
              <a:t>Learning Process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31431B0D-57CA-47F5-89F8-350B0C06B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521" y="1371600"/>
            <a:ext cx="7190957" cy="4549775"/>
          </a:xfrm>
        </p:spPr>
      </p:pic>
    </p:spTree>
    <p:extLst>
      <p:ext uri="{BB962C8B-B14F-4D97-AF65-F5344CB8AC3E}">
        <p14:creationId xmlns:p14="http://schemas.microsoft.com/office/powerpoint/2010/main" val="293081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7953801" cy="1264108"/>
          </a:xfrm>
        </p:spPr>
        <p:txBody>
          <a:bodyPr/>
          <a:lstStyle/>
          <a:p>
            <a:r>
              <a:rPr lang="en-IN" dirty="0"/>
              <a:t>Graphical Form</a:t>
            </a:r>
          </a:p>
        </p:txBody>
      </p:sp>
      <p:pic>
        <p:nvPicPr>
          <p:cNvPr id="11" name="Content Placeholder 10" descr="Chart, scatter chart&#10;&#10;Description automatically generated">
            <a:extLst>
              <a:ext uri="{FF2B5EF4-FFF2-40B4-BE49-F238E27FC236}">
                <a16:creationId xmlns:a16="http://schemas.microsoft.com/office/drawing/2014/main" id="{1B329A5B-06D7-4830-9A8A-B9B7E0D43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45" y="1520377"/>
            <a:ext cx="5476766" cy="4549775"/>
          </a:xfrm>
        </p:spPr>
      </p:pic>
      <p:pic>
        <p:nvPicPr>
          <p:cNvPr id="13" name="Picture 1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5776973-7FE6-49CF-81B1-4D0BD98F9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509" y="2656394"/>
            <a:ext cx="3865635" cy="997750"/>
          </a:xfrm>
          <a:prstGeom prst="rect">
            <a:avLst/>
          </a:prstGeom>
        </p:spPr>
      </p:pic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EF7F0495-FE09-4286-BD56-15CBD3B7DF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547" y="1058258"/>
            <a:ext cx="4072577" cy="1598136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7AC05E55-B74E-46D8-86D2-FC20591AE1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724" y="3654144"/>
            <a:ext cx="3734308" cy="249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64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3A93-3CA8-4FD0-8CBD-1742912F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Back-Propagation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2ED2F0C-F1A7-4DA7-9EA4-06BF5497C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90"/>
          <a:stretch/>
        </p:blipFill>
        <p:spPr>
          <a:xfrm>
            <a:off x="413409" y="2039473"/>
            <a:ext cx="4539591" cy="3138364"/>
          </a:xfrm>
        </p:spPr>
      </p:pic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986D155C-9220-4EFF-99DF-750B301F1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646" y="2144265"/>
            <a:ext cx="4245128" cy="273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32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86327986-C628-4C1C-86D7-2902AB350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74" y="1089242"/>
            <a:ext cx="4102183" cy="2549580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6E1A0727-9642-4874-81FF-59145925A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476" y="880382"/>
            <a:ext cx="3870960" cy="2758440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FE4D4083-A74E-44AB-8A2D-F366B93AA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474" y="3701687"/>
            <a:ext cx="4117962" cy="2720340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6A242669-7E12-4742-9766-CC787A1B5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19" y="3575957"/>
            <a:ext cx="3771900" cy="29718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DFE2D6-5538-487C-BF1A-F28281B39DE9}"/>
              </a:ext>
            </a:extLst>
          </p:cNvPr>
          <p:cNvCxnSpPr/>
          <p:nvPr/>
        </p:nvCxnSpPr>
        <p:spPr>
          <a:xfrm>
            <a:off x="4743476" y="1884784"/>
            <a:ext cx="30438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8D8F9D7-32F2-4482-8BDD-BC5665FE4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025249" y="3438291"/>
            <a:ext cx="390178" cy="1646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D87BDF-6159-4DA2-8523-63EEABB061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686625" y="4420420"/>
            <a:ext cx="164606" cy="3901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E4CECA-FA6C-4D1C-811C-3A5042ED64A9}"/>
              </a:ext>
            </a:extLst>
          </p:cNvPr>
          <p:cNvSpPr txBox="1"/>
          <p:nvPr/>
        </p:nvSpPr>
        <p:spPr>
          <a:xfrm>
            <a:off x="860438" y="1226743"/>
            <a:ext cx="4954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1.                                                                                                   2.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B5C06-FBBC-4B64-9F5A-C45D3E48156A}"/>
              </a:ext>
            </a:extLst>
          </p:cNvPr>
          <p:cNvSpPr txBox="1"/>
          <p:nvPr/>
        </p:nvSpPr>
        <p:spPr>
          <a:xfrm>
            <a:off x="860438" y="3784817"/>
            <a:ext cx="4954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4.                                                                                               3.</a:t>
            </a:r>
          </a:p>
        </p:txBody>
      </p:sp>
    </p:spTree>
    <p:extLst>
      <p:ext uri="{BB962C8B-B14F-4D97-AF65-F5344CB8AC3E}">
        <p14:creationId xmlns:p14="http://schemas.microsoft.com/office/powerpoint/2010/main" val="386940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7953801" cy="1264108"/>
          </a:xfrm>
        </p:spPr>
        <p:txBody>
          <a:bodyPr/>
          <a:lstStyle/>
          <a:p>
            <a:r>
              <a:rPr lang="en-IN" dirty="0"/>
              <a:t>Global Minima</a:t>
            </a:r>
          </a:p>
        </p:txBody>
      </p:sp>
      <p:pic>
        <p:nvPicPr>
          <p:cNvPr id="4" name="Content Placeholder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E71DDB11-12BC-429F-8445-4D897675A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954" y="2604269"/>
            <a:ext cx="5234473" cy="349227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29EBDB-78B9-4E01-A441-2B44F7245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555" y="927687"/>
            <a:ext cx="4249280" cy="27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34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27D8-BC52-40E3-8143-71C19D7BB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Implementation/Methodology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2C4DE5-3EA2-4F5A-8DDE-47FEBB4EF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Machine Learning</a:t>
            </a:r>
          </a:p>
          <a:p>
            <a:pPr lvl="1"/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Support Vector Machine</a:t>
            </a:r>
          </a:p>
          <a:p>
            <a:pPr lvl="1"/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K Nearest Neighbour</a:t>
            </a:r>
          </a:p>
          <a:p>
            <a:endParaRPr lang="en-IN" i="0" dirty="0">
              <a:solidFill>
                <a:srgbClr val="292929"/>
              </a:solidFill>
              <a:latin typeface="charter"/>
            </a:endParaRPr>
          </a:p>
          <a:p>
            <a:r>
              <a:rPr lang="en-IN" i="0" dirty="0">
                <a:solidFill>
                  <a:srgbClr val="292929"/>
                </a:solidFill>
                <a:latin typeface="charter"/>
              </a:rPr>
              <a:t>Artificial Neural Network</a:t>
            </a:r>
          </a:p>
          <a:p>
            <a:pPr marL="0" indent="0">
              <a:buNone/>
            </a:pPr>
            <a:r>
              <a:rPr lang="en-IN" i="0" dirty="0">
                <a:solidFill>
                  <a:srgbClr val="292929"/>
                </a:solidFill>
                <a:latin typeface="charter"/>
              </a:rPr>
              <a:t> </a:t>
            </a:r>
          </a:p>
          <a:p>
            <a:r>
              <a:rPr lang="en-IN" i="0" dirty="0">
                <a:solidFill>
                  <a:srgbClr val="292929"/>
                </a:solidFill>
                <a:latin typeface="charter"/>
              </a:rPr>
              <a:t>Convolution Neural </a:t>
            </a:r>
          </a:p>
          <a:p>
            <a:pPr marL="0" indent="0">
              <a:buNone/>
            </a:pPr>
            <a:r>
              <a:rPr lang="en-IN" i="0" dirty="0">
                <a:solidFill>
                  <a:srgbClr val="292929"/>
                </a:solidFill>
                <a:latin typeface="charter"/>
              </a:rPr>
              <a:t>Network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C9F0B49B-F5DC-4C95-BB6A-781182B884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789" y="2593911"/>
            <a:ext cx="6130211" cy="353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03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&amp; 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75932" indent="-342900">
              <a:lnSpc>
                <a:spcPct val="107000"/>
              </a:lnSpc>
              <a:spcAft>
                <a:spcPts val="800"/>
              </a:spcAft>
            </a:pPr>
            <a:r>
              <a:rPr lang="en-IN" sz="2000" b="0" i="0" dirty="0">
                <a:solidFill>
                  <a:srgbClr val="111111"/>
                </a:solidFill>
                <a:latin typeface="Roboto"/>
              </a:rPr>
              <a:t>Manufacturing – Quality Control</a:t>
            </a:r>
            <a:endParaRPr lang="en-IN" sz="2000" b="0" i="0" dirty="0">
              <a:solidFill>
                <a:srgbClr val="111111"/>
              </a:solidFill>
              <a:effectLst/>
              <a:latin typeface="Roboto"/>
            </a:endParaRPr>
          </a:p>
          <a:p>
            <a:pPr marL="418782" indent="-285750">
              <a:lnSpc>
                <a:spcPct val="107000"/>
              </a:lnSpc>
              <a:spcAft>
                <a:spcPts val="800"/>
              </a:spcAft>
            </a:pPr>
            <a:r>
              <a:rPr lang="en-IN" sz="2000" b="0" i="0" dirty="0">
                <a:solidFill>
                  <a:srgbClr val="111111"/>
                </a:solidFill>
                <a:latin typeface="Roboto"/>
              </a:rPr>
              <a:t>Computational Fluid Dynamics</a:t>
            </a:r>
          </a:p>
          <a:p>
            <a:pPr marL="418782" indent="-285750">
              <a:lnSpc>
                <a:spcPct val="107000"/>
              </a:lnSpc>
              <a:spcAft>
                <a:spcPts val="800"/>
              </a:spcAft>
            </a:pPr>
            <a:r>
              <a:rPr lang="en-IN" sz="2000" b="0" i="0" dirty="0">
                <a:solidFill>
                  <a:srgbClr val="111111"/>
                </a:solidFill>
                <a:effectLst/>
                <a:latin typeface="Roboto"/>
              </a:rPr>
              <a:t>Medical image processing</a:t>
            </a:r>
          </a:p>
          <a:p>
            <a:pPr marL="418782" indent="-285750">
              <a:lnSpc>
                <a:spcPct val="107000"/>
              </a:lnSpc>
              <a:spcAft>
                <a:spcPts val="800"/>
              </a:spcAft>
            </a:pPr>
            <a:r>
              <a:rPr lang="en-IN" sz="2000" b="0" i="0" dirty="0">
                <a:solidFill>
                  <a:srgbClr val="111111"/>
                </a:solidFill>
                <a:effectLst/>
                <a:latin typeface="Roboto"/>
              </a:rPr>
              <a:t>Cashier-less stores</a:t>
            </a:r>
          </a:p>
          <a:p>
            <a:pPr marL="418782" indent="-285750">
              <a:lnSpc>
                <a:spcPct val="107000"/>
              </a:lnSpc>
              <a:spcAft>
                <a:spcPts val="800"/>
              </a:spcAft>
            </a:pPr>
            <a:r>
              <a:rPr lang="en-IN" sz="2000" b="0" i="0" dirty="0">
                <a:solidFill>
                  <a:srgbClr val="111111"/>
                </a:solidFill>
                <a:effectLst/>
                <a:latin typeface="Roboto"/>
              </a:rPr>
              <a:t>Self-driving cars</a:t>
            </a:r>
          </a:p>
          <a:p>
            <a:pPr marL="418782" indent="-285750">
              <a:lnSpc>
                <a:spcPct val="107000"/>
              </a:lnSpc>
              <a:spcAft>
                <a:spcPts val="800"/>
              </a:spcAft>
            </a:pPr>
            <a:r>
              <a:rPr lang="en-IN" sz="2000" b="0" i="0" dirty="0">
                <a:solidFill>
                  <a:srgbClr val="111111"/>
                </a:solidFill>
                <a:effectLst/>
                <a:latin typeface="Roboto"/>
              </a:rPr>
              <a:t>Surveillance</a:t>
            </a:r>
            <a:endParaRPr lang="en-IN" sz="2800" b="0" dirty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pic>
        <p:nvPicPr>
          <p:cNvPr id="5" name="Picture 4" descr="A picture containing text, building, outdoor, street&#10;&#10;Description automatically generated">
            <a:extLst>
              <a:ext uri="{FF2B5EF4-FFF2-40B4-BE49-F238E27FC236}">
                <a16:creationId xmlns:a16="http://schemas.microsoft.com/office/drawing/2014/main" id="{61855F6F-B6A4-4A57-9479-22FA7E5423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68" y="3863289"/>
            <a:ext cx="4072331" cy="2341768"/>
          </a:xfrm>
          <a:prstGeom prst="rect">
            <a:avLst/>
          </a:prstGeom>
        </p:spPr>
      </p:pic>
      <p:pic>
        <p:nvPicPr>
          <p:cNvPr id="7" name="Picture 6" descr="A picture containing text, handcart&#10;&#10;Description automatically generated">
            <a:extLst>
              <a:ext uri="{FF2B5EF4-FFF2-40B4-BE49-F238E27FC236}">
                <a16:creationId xmlns:a16="http://schemas.microsoft.com/office/drawing/2014/main" id="{441F01A5-779B-4239-8F5C-6BF7F3C37A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" r="48919"/>
          <a:stretch/>
        </p:blipFill>
        <p:spPr>
          <a:xfrm>
            <a:off x="4952999" y="3598761"/>
            <a:ext cx="4072332" cy="2721534"/>
          </a:xfrm>
          <a:prstGeom prst="rect">
            <a:avLst/>
          </a:prstGeom>
        </p:spPr>
      </p:pic>
      <p:pic>
        <p:nvPicPr>
          <p:cNvPr id="9" name="Picture 8" descr="A picture containing apple, indoor, green, fruit&#10;&#10;Description automatically generated">
            <a:extLst>
              <a:ext uri="{FF2B5EF4-FFF2-40B4-BE49-F238E27FC236}">
                <a16:creationId xmlns:a16="http://schemas.microsoft.com/office/drawing/2014/main" id="{60614335-2028-45BA-BAE9-AF6CD0A94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604" y="1142459"/>
            <a:ext cx="4207900" cy="228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69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699" y="31293"/>
            <a:ext cx="8115301" cy="1264108"/>
          </a:xfrm>
        </p:spPr>
        <p:txBody>
          <a:bodyPr/>
          <a:lstStyle/>
          <a:p>
            <a:r>
              <a:rPr lang="en-GB" dirty="0"/>
              <a:t>(Gantt chart)Schedule of project work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14BB06-68B7-4CCC-891A-2741977E0CA2}"/>
              </a:ext>
            </a:extLst>
          </p:cNvPr>
          <p:cNvSpPr txBox="1">
            <a:spLocks/>
          </p:cNvSpPr>
          <p:nvPr/>
        </p:nvSpPr>
        <p:spPr>
          <a:xfrm>
            <a:off x="1790699" y="31293"/>
            <a:ext cx="8115301" cy="1264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75" b="1" kern="120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baseline="0"/>
              <a:t>(Gantt chart)Schedule of project work</a:t>
            </a:r>
            <a:endParaRPr lang="en-IN" baseline="0" dirty="0"/>
          </a:p>
        </p:txBody>
      </p:sp>
      <p:graphicFrame>
        <p:nvGraphicFramePr>
          <p:cNvPr id="6" name="Table 38">
            <a:extLst>
              <a:ext uri="{FF2B5EF4-FFF2-40B4-BE49-F238E27FC236}">
                <a16:creationId xmlns:a16="http://schemas.microsoft.com/office/drawing/2014/main" id="{C7AC2333-B03D-4768-86C5-EC06E3AA5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495193"/>
              </p:ext>
            </p:extLst>
          </p:nvPr>
        </p:nvGraphicFramePr>
        <p:xfrm>
          <a:off x="233265" y="2040964"/>
          <a:ext cx="9450505" cy="2723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3134">
                  <a:extLst>
                    <a:ext uri="{9D8B030D-6E8A-4147-A177-3AD203B41FA5}">
                      <a16:colId xmlns:a16="http://schemas.microsoft.com/office/drawing/2014/main" val="3966215585"/>
                    </a:ext>
                  </a:extLst>
                </a:gridCol>
                <a:gridCol w="6727371">
                  <a:extLst>
                    <a:ext uri="{9D8B030D-6E8A-4147-A177-3AD203B41FA5}">
                      <a16:colId xmlns:a16="http://schemas.microsoft.com/office/drawing/2014/main" val="3547840322"/>
                    </a:ext>
                  </a:extLst>
                </a:gridCol>
              </a:tblGrid>
              <a:tr h="37426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        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   Purchasing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97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n-lt"/>
                        </a:rPr>
                        <a:t>    Making Outer Body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379417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+mn-lt"/>
                        </a:rPr>
                        <a:t>     </a:t>
                      </a:r>
                      <a:r>
                        <a:rPr lang="en-US" sz="1600" b="1" dirty="0">
                          <a:latin typeface="+mn-lt"/>
                        </a:rPr>
                        <a:t>Assembling the Electronics</a:t>
                      </a:r>
                      <a:endParaRPr lang="en-IN" sz="1600" b="1" i="0" dirty="0">
                        <a:solidFill>
                          <a:srgbClr val="292929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25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rgbClr val="292929"/>
                          </a:solidFill>
                          <a:latin typeface="+mn-lt"/>
                        </a:rPr>
                        <a:t>Assembling the Electronic part with Outer Body</a:t>
                      </a:r>
                      <a:endParaRPr lang="en-IN" sz="1400" b="1" i="0" dirty="0">
                        <a:solidFill>
                          <a:srgbClr val="292929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3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+mn-lt"/>
                        </a:rPr>
                        <a:t>  </a:t>
                      </a:r>
                      <a:r>
                        <a:rPr lang="en-US" sz="1200" b="1" dirty="0">
                          <a:latin typeface="+mn-lt"/>
                        </a:rPr>
                        <a:t>    </a:t>
                      </a:r>
                      <a:r>
                        <a:rPr lang="en-US" sz="1600" b="1" dirty="0">
                          <a:latin typeface="+mn-lt"/>
                        </a:rPr>
                        <a:t>Testing &amp; Troubleshooting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851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+mn-lt"/>
                        </a:rPr>
                        <a:t> Report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110905"/>
                  </a:ext>
                </a:extLst>
              </a:tr>
              <a:tr h="38328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01768"/>
                  </a:ext>
                </a:extLst>
              </a:tr>
            </a:tbl>
          </a:graphicData>
        </a:graphic>
      </p:graphicFrame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A0C7985-3735-492C-A6A4-BBAA3FCCCE5D}"/>
              </a:ext>
            </a:extLst>
          </p:cNvPr>
          <p:cNvSpPr/>
          <p:nvPr/>
        </p:nvSpPr>
        <p:spPr>
          <a:xfrm>
            <a:off x="2967134" y="2062269"/>
            <a:ext cx="1343609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dirty="0">
                <a:solidFill>
                  <a:schemeClr val="tx1"/>
                </a:solidFill>
              </a:rPr>
              <a:t> </a:t>
            </a:r>
            <a:endParaRPr lang="en-IN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1CAF5C1B-A433-4529-B28E-2F2D600C17AB}"/>
              </a:ext>
            </a:extLst>
          </p:cNvPr>
          <p:cNvSpPr/>
          <p:nvPr/>
        </p:nvSpPr>
        <p:spPr>
          <a:xfrm>
            <a:off x="3750907" y="2417036"/>
            <a:ext cx="1399592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CFBFE904-2201-4470-8B03-0B0862A8790B}"/>
              </a:ext>
            </a:extLst>
          </p:cNvPr>
          <p:cNvSpPr/>
          <p:nvPr/>
        </p:nvSpPr>
        <p:spPr>
          <a:xfrm>
            <a:off x="6102219" y="3214777"/>
            <a:ext cx="1399592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3F8428A-1CDD-4AC7-A276-3D346359693C}"/>
              </a:ext>
            </a:extLst>
          </p:cNvPr>
          <p:cNvSpPr/>
          <p:nvPr/>
        </p:nvSpPr>
        <p:spPr>
          <a:xfrm>
            <a:off x="4730619" y="2780643"/>
            <a:ext cx="1539551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D1F90A7D-F80A-44D0-8B12-36152771D205}"/>
              </a:ext>
            </a:extLst>
          </p:cNvPr>
          <p:cNvSpPr/>
          <p:nvPr/>
        </p:nvSpPr>
        <p:spPr>
          <a:xfrm>
            <a:off x="7058056" y="3658053"/>
            <a:ext cx="1754155" cy="29858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3F7DCFF7-746E-4A70-9B1F-ECFF53852CD4}"/>
              </a:ext>
            </a:extLst>
          </p:cNvPr>
          <p:cNvSpPr/>
          <p:nvPr/>
        </p:nvSpPr>
        <p:spPr>
          <a:xfrm>
            <a:off x="8612153" y="4021015"/>
            <a:ext cx="1026367" cy="29858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5" name="Table 3">
            <a:extLst>
              <a:ext uri="{FF2B5EF4-FFF2-40B4-BE49-F238E27FC236}">
                <a16:creationId xmlns:a16="http://schemas.microsoft.com/office/drawing/2014/main" id="{B1475C7C-33B3-4E98-ADB4-25883664B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261186"/>
              </p:ext>
            </p:extLst>
          </p:nvPr>
        </p:nvGraphicFramePr>
        <p:xfrm>
          <a:off x="2901820" y="1387617"/>
          <a:ext cx="6736700" cy="653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340">
                  <a:extLst>
                    <a:ext uri="{9D8B030D-6E8A-4147-A177-3AD203B41FA5}">
                      <a16:colId xmlns:a16="http://schemas.microsoft.com/office/drawing/2014/main" val="2245091821"/>
                    </a:ext>
                  </a:extLst>
                </a:gridCol>
                <a:gridCol w="1347340">
                  <a:extLst>
                    <a:ext uri="{9D8B030D-6E8A-4147-A177-3AD203B41FA5}">
                      <a16:colId xmlns:a16="http://schemas.microsoft.com/office/drawing/2014/main" val="1153749299"/>
                    </a:ext>
                  </a:extLst>
                </a:gridCol>
                <a:gridCol w="1308153">
                  <a:extLst>
                    <a:ext uri="{9D8B030D-6E8A-4147-A177-3AD203B41FA5}">
                      <a16:colId xmlns:a16="http://schemas.microsoft.com/office/drawing/2014/main" val="401289053"/>
                    </a:ext>
                  </a:extLst>
                </a:gridCol>
                <a:gridCol w="1386527">
                  <a:extLst>
                    <a:ext uri="{9D8B030D-6E8A-4147-A177-3AD203B41FA5}">
                      <a16:colId xmlns:a16="http://schemas.microsoft.com/office/drawing/2014/main" val="1760943633"/>
                    </a:ext>
                  </a:extLst>
                </a:gridCol>
                <a:gridCol w="1347340">
                  <a:extLst>
                    <a:ext uri="{9D8B030D-6E8A-4147-A177-3AD203B41FA5}">
                      <a16:colId xmlns:a16="http://schemas.microsoft.com/office/drawing/2014/main" val="3678256409"/>
                    </a:ext>
                  </a:extLst>
                </a:gridCol>
              </a:tblGrid>
              <a:tr h="653347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19 march – 23 march</a:t>
                      </a:r>
                      <a:endParaRPr lang="en-IN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23 march -  31 march</a:t>
                      </a:r>
                      <a:endParaRPr lang="en-IN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 April– 7 April </a:t>
                      </a:r>
                      <a:endParaRPr lang="en-IN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8 April– 15 April </a:t>
                      </a:r>
                      <a:endParaRPr lang="en-IN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16 April – 23 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28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53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-6029"/>
            <a:ext cx="7454900" cy="1264108"/>
          </a:xfrm>
        </p:spPr>
        <p:txBody>
          <a:bodyPr/>
          <a:lstStyle/>
          <a:p>
            <a:r>
              <a:rPr lang="en-GB" dirty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3032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000" b="0" dirty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endParaRPr lang="en-US" sz="2000" b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3A866-0348-48F0-A7FE-3A87B079F51B}"/>
              </a:ext>
            </a:extLst>
          </p:cNvPr>
          <p:cNvSpPr txBox="1"/>
          <p:nvPr/>
        </p:nvSpPr>
        <p:spPr>
          <a:xfrm>
            <a:off x="563595" y="1569002"/>
            <a:ext cx="768466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https://en.wikipedia.org/wik/Convolutional_neural</a:t>
            </a:r>
            <a:r>
              <a:rPr lang="en-IN" sz="2800" b="1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</a:t>
            </a:r>
            <a:r>
              <a:rPr lang="en-IN" sz="28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</a:t>
            </a:r>
            <a:endParaRPr lang="en-IN" sz="2800" b="1" dirty="0"/>
          </a:p>
          <a:p>
            <a:endParaRPr lang="en-IN" sz="2800" b="1" dirty="0"/>
          </a:p>
          <a:p>
            <a:endParaRPr lang="en-IN" sz="2800" b="1" dirty="0"/>
          </a:p>
          <a:p>
            <a:r>
              <a:rPr lang="en-IN" sz="28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https://www.zendesk.co/</a:t>
            </a:r>
            <a:endParaRPr lang="en-IN" sz="2800" b="1" dirty="0"/>
          </a:p>
          <a:p>
            <a:endParaRPr lang="en-IN" sz="2800" b="1" dirty="0"/>
          </a:p>
          <a:p>
            <a:r>
              <a:rPr lang="en-IN" sz="28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https://www.youtube.com/watch?v=aircAruvnKk</a:t>
            </a:r>
            <a:endParaRPr lang="en-IN" sz="2800" b="1" dirty="0"/>
          </a:p>
          <a:p>
            <a:endParaRPr lang="en-IN" sz="2800" b="1" dirty="0"/>
          </a:p>
          <a:p>
            <a:r>
              <a:rPr lang="en-IN" sz="2800" b="1" dirty="0"/>
              <a:t>Handwritten Digit Recognition using CNN</a:t>
            </a:r>
          </a:p>
          <a:p>
            <a:r>
              <a:rPr lang="en-IN" sz="2800" b="1" dirty="0"/>
              <a:t> Vijayalaxmi R Rudraswamimath 1 , Bhavanishankar K2 </a:t>
            </a:r>
          </a:p>
        </p:txBody>
      </p:sp>
    </p:spTree>
    <p:extLst>
      <p:ext uri="{BB962C8B-B14F-4D97-AF65-F5344CB8AC3E}">
        <p14:creationId xmlns:p14="http://schemas.microsoft.com/office/powerpoint/2010/main" val="1463797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878FBCB-A3BC-4E57-BA11-B6BE3462309D}"/>
              </a:ext>
            </a:extLst>
          </p:cNvPr>
          <p:cNvSpPr txBox="1"/>
          <p:nvPr/>
        </p:nvSpPr>
        <p:spPr>
          <a:xfrm>
            <a:off x="2477278" y="3290501"/>
            <a:ext cx="4954554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500" b="1" i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965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32629</TotalTime>
  <Words>409</Words>
  <Application>Microsoft Office PowerPoint</Application>
  <PresentationFormat>A4 Paper (210x297 mm)</PresentationFormat>
  <Paragraphs>86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charter</vt:lpstr>
      <vt:lpstr>Proxima Nova</vt:lpstr>
      <vt:lpstr>Roboto</vt:lpstr>
      <vt:lpstr>sharp sans en</vt:lpstr>
      <vt:lpstr>Times New Roman</vt:lpstr>
      <vt:lpstr>Office Theme</vt:lpstr>
      <vt:lpstr>DEEP LEARNING For Recognizing Hand-Written Digits</vt:lpstr>
      <vt:lpstr>Introduction</vt:lpstr>
      <vt:lpstr>Introduction</vt:lpstr>
      <vt:lpstr>ML vs DL</vt:lpstr>
      <vt:lpstr>Pros vs Cons</vt:lpstr>
      <vt:lpstr>What is Neural Network?</vt:lpstr>
      <vt:lpstr>How does Network reads the Image?</vt:lpstr>
      <vt:lpstr>Hidden Layers</vt:lpstr>
      <vt:lpstr>Hidden Layers</vt:lpstr>
      <vt:lpstr>What is Neuron?</vt:lpstr>
      <vt:lpstr>Learning Process</vt:lpstr>
      <vt:lpstr>Graphical Form</vt:lpstr>
      <vt:lpstr>Back-Propagation</vt:lpstr>
      <vt:lpstr>PowerPoint Presentation</vt:lpstr>
      <vt:lpstr>Global Minima</vt:lpstr>
      <vt:lpstr>Project Implementation/Methodology</vt:lpstr>
      <vt:lpstr>Scope &amp; Applications</vt:lpstr>
      <vt:lpstr>(Gantt chart)Schedule of project work</vt:lpstr>
      <vt:lpstr>References</vt:lpstr>
      <vt:lpstr>PowerPoint Presentation</vt:lpstr>
    </vt:vector>
  </TitlesOfParts>
  <Company>iitb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CoFG_SCwAIHS</dc:title>
  <dc:subject>Comparison of Fin Geometries in Solar Collector with Absorber Integrated Heat Storage</dc:subject>
  <dc:creator>Prof M V Rane, PhD_SJS, DDP_AP</dc:creator>
  <cp:keywords>IC_Solar-iCon 2016+Conference Presentation</cp:keywords>
  <cp:lastModifiedBy>SSPO .</cp:lastModifiedBy>
  <cp:revision>1793</cp:revision>
  <cp:lastPrinted>2016-01-26T15:41:14Z</cp:lastPrinted>
  <dcterms:created xsi:type="dcterms:W3CDTF">2001-12-15T12:25:16Z</dcterms:created>
  <dcterms:modified xsi:type="dcterms:W3CDTF">2021-03-20T06:35:14Z</dcterms:modified>
  <cp:version>28</cp:version>
</cp:coreProperties>
</file>